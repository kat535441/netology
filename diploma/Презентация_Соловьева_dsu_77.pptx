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8"/>
  </p:notesMasterIdLst>
  <p:sldIdLst>
    <p:sldId id="264" r:id="rId2"/>
    <p:sldId id="267" r:id="rId3"/>
    <p:sldId id="324" r:id="rId4"/>
    <p:sldId id="274" r:id="rId5"/>
    <p:sldId id="265" r:id="rId6"/>
    <p:sldId id="275" r:id="rId7"/>
    <p:sldId id="326" r:id="rId8"/>
    <p:sldId id="258" r:id="rId9"/>
    <p:sldId id="276" r:id="rId10"/>
    <p:sldId id="303" r:id="rId11"/>
    <p:sldId id="325" r:id="rId12"/>
    <p:sldId id="277" r:id="rId13"/>
    <p:sldId id="328" r:id="rId14"/>
    <p:sldId id="327" r:id="rId15"/>
    <p:sldId id="287" r:id="rId16"/>
    <p:sldId id="312" r:id="rId17"/>
  </p:sldIdLst>
  <p:sldSz cx="18288000" cy="10287000"/>
  <p:notesSz cx="6858000" cy="9144000"/>
  <p:embeddedFontLst>
    <p:embeddedFont>
      <p:font typeface="Proxima Nova" panose="020B0604020202020204" charset="0"/>
      <p:regular r:id="rId19"/>
      <p:bold r:id="rId20"/>
      <p:italic r:id="rId21"/>
      <p:boldItalic r:id="rId22"/>
    </p:embeddedFont>
    <p:embeddedFont>
      <p:font typeface="Proxima Nova Semibold" panose="020B0604020202020204" charset="0"/>
      <p:regular r:id="rId23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2479AA-1188-46D5-84F2-6A872CF9E262}">
  <a:tblStyle styleId="{F12479AA-1188-46D5-84F2-6A872CF9E262}" styleName="Table_0">
    <a:wholeTbl>
      <a:tcTxStyle b="off" i="off">
        <a:font>
          <a:latin typeface="Circe"/>
          <a:ea typeface="Circe"/>
          <a:cs typeface="Circe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2CD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FFF1E8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a603d3ff9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a603d3ff9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86f911c6f3_2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86f911c6f3_2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872e1aa85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872e1aa85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a047d35a60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a047d35a60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86f911c6f3_2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86f911c6f3_2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a4b803e0d4_9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a4b803e0d4_9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a75697e66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a75697e66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115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a75697e66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a75697e66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a4b803e0d4_9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a4b803e0d4_9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9b1f32a38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9b1f32a38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9b1f32a38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9b1f32a38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3908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a4b803e0d4_9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a4b803e0d4_9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a75697e66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a75697e66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530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a4b803e0d4_9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a4b803e0d4_9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834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99cbc9c2de_2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99cbc9c2de_2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9c383ea19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9c383ea19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2">
  <p:cSld name="CUSTOM_3_1_1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1" name="Google Shape;11;p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6073">
          <p15:clr>
            <a:srgbClr val="0000FF"/>
          </p15:clr>
        </p15:guide>
        <p15:guide id="3" pos="348">
          <p15:clr>
            <a:srgbClr val="0000FF"/>
          </p15:clr>
        </p15:guide>
        <p15:guide id="4" pos="11172">
          <p15:clr>
            <a:srgbClr val="0000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1">
  <p:cSld name="CUSTOM_3_1_1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7" name="Google Shape;17;p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ертикальный список">
  <p:cSld name="CUSTOM_3_1_1_2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3" name="Google Shape;23;p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51850" y="2217600"/>
            <a:ext cx="12862800" cy="7178400"/>
          </a:xfrm>
          <a:prstGeom prst="rect">
            <a:avLst/>
          </a:prstGeom>
          <a:noFill/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88100" cy="148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0" name="Google Shape;30;p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с картинкой">
  <p:cSld name="CUSTOM_3_1_1_2_2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9175531" y="2983531"/>
            <a:ext cx="8521200" cy="5144400"/>
          </a:xfrm>
          <a:prstGeom prst="roundRect">
            <a:avLst>
              <a:gd name="adj" fmla="val 6404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6" name="Google Shape;36;p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7" name="Google Shape;37;p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88100" cy="14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>
            <a:endParaRPr/>
          </a:p>
        </p:txBody>
      </p:sp>
      <p:grpSp>
        <p:nvGrpSpPr>
          <p:cNvPr id="42" name="Google Shape;42;p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43" name="Google Shape;43;p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7" name="Google Shape;47;p5"/>
          <p:cNvSpPr txBox="1"/>
          <p:nvPr/>
        </p:nvSpPr>
        <p:spPr>
          <a:xfrm>
            <a:off x="10556650" y="5189400"/>
            <a:ext cx="57165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фотографии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пунктирную рамку)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551850" y="9396000"/>
            <a:ext cx="7146000" cy="244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18773050" y="733450"/>
            <a:ext cx="4575600" cy="8410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изображение на слайд, затем </a:t>
            </a:r>
            <a:br>
              <a:rPr lang="ru"/>
            </a:br>
            <a:r>
              <a:rPr lang="ru"/>
              <a:t>с помощью инструмента </a:t>
            </a:r>
            <a:r>
              <a:rPr lang="ru" b="1"/>
              <a:t>Обрезка</a:t>
            </a:r>
            <a:r>
              <a:rPr lang="ru"/>
              <a:t> выберете </a:t>
            </a:r>
            <a:br>
              <a:rPr lang="ru"/>
            </a:br>
            <a:r>
              <a:rPr lang="ru"/>
              <a:t>обрезку с помощью прямоугольника </a:t>
            </a:r>
            <a:br>
              <a:rPr lang="ru"/>
            </a:br>
            <a:r>
              <a:rPr lang="ru"/>
              <a:t>с закруглёнными углами.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Добавьте чёрную обводку в 8 пикселей. Поместите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/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</a:t>
            </a:r>
            <a:br>
              <a:rPr lang="ru"/>
            </a:br>
            <a:r>
              <a:rPr lang="ru"/>
              <a:t>и выровняйте иллюстрацию по заданным направляющим. Изображение должно </a:t>
            </a:r>
            <a:br>
              <a:rPr lang="ru"/>
            </a:br>
            <a:r>
              <a:rPr lang="ru"/>
              <a:t>перекрывать собой пунктирную линию.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75" y="1929188"/>
            <a:ext cx="4104925" cy="16021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>
            <a:spLocks noGrp="1"/>
          </p:cNvSpPr>
          <p:nvPr>
            <p:ph type="body" idx="2"/>
          </p:nvPr>
        </p:nvSpPr>
        <p:spPr>
          <a:xfrm>
            <a:off x="551850" y="2217600"/>
            <a:ext cx="7146000" cy="7178400"/>
          </a:xfrm>
          <a:prstGeom prst="rect">
            <a:avLst/>
          </a:prstGeom>
          <a:noFill/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9pPr>
          </a:lstStyle>
          <a:p>
            <a:endParaRPr/>
          </a:p>
        </p:txBody>
      </p:sp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5" y="5583854"/>
            <a:ext cx="4104924" cy="32699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Цитата с фотографией">
  <p:cSld name="CUSTOM_3_1_1_2_2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1092595" y="2249131"/>
            <a:ext cx="6120000" cy="61200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6" name="Google Shape;56;p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57" name="Google Shape;57;p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1" name="Google Shape;61;p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62" name="Google Shape;62;p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6" name="Google Shape;66;p6"/>
          <p:cNvSpPr/>
          <p:nvPr/>
        </p:nvSpPr>
        <p:spPr>
          <a:xfrm>
            <a:off x="7706731" y="2717600"/>
            <a:ext cx="686874" cy="479366"/>
          </a:xfrm>
          <a:custGeom>
            <a:avLst/>
            <a:gdLst/>
            <a:ahLst/>
            <a:cxnLst/>
            <a:rect l="l" t="t" r="r" b="b"/>
            <a:pathLst>
              <a:path w="273928" h="191173" extrusionOk="0">
                <a:moveTo>
                  <a:pt x="79295" y="0"/>
                </a:moveTo>
                <a:lnTo>
                  <a:pt x="0" y="105246"/>
                </a:lnTo>
                <a:lnTo>
                  <a:pt x="0" y="191172"/>
                </a:lnTo>
                <a:lnTo>
                  <a:pt x="93712" y="191172"/>
                </a:lnTo>
                <a:lnTo>
                  <a:pt x="93712" y="105246"/>
                </a:lnTo>
                <a:lnTo>
                  <a:pt x="122547" y="0"/>
                </a:lnTo>
                <a:close/>
                <a:moveTo>
                  <a:pt x="230676" y="0"/>
                </a:moveTo>
                <a:lnTo>
                  <a:pt x="151381" y="105246"/>
                </a:lnTo>
                <a:lnTo>
                  <a:pt x="151381" y="191172"/>
                </a:lnTo>
                <a:lnTo>
                  <a:pt x="245093" y="191172"/>
                </a:lnTo>
                <a:lnTo>
                  <a:pt x="245093" y="105246"/>
                </a:lnTo>
                <a:lnTo>
                  <a:pt x="273928" y="0"/>
                </a:lnTo>
                <a:close/>
              </a:path>
            </a:pathLst>
          </a:custGeom>
          <a:solidFill>
            <a:srgbClr val="4BD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6"/>
          <p:cNvSpPr txBox="1"/>
          <p:nvPr/>
        </p:nvSpPr>
        <p:spPr>
          <a:xfrm>
            <a:off x="1497266" y="4946400"/>
            <a:ext cx="53196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1"/>
          </p:nvPr>
        </p:nvSpPr>
        <p:spPr>
          <a:xfrm>
            <a:off x="7706725" y="6667200"/>
            <a:ext cx="7137000" cy="2232000"/>
          </a:xfrm>
          <a:prstGeom prst="rect">
            <a:avLst/>
          </a:prstGeom>
        </p:spPr>
        <p:txBody>
          <a:bodyPr spcFirstLastPara="1" wrap="square" lIns="0" tIns="198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706725" y="3452400"/>
            <a:ext cx="8574900" cy="2970000"/>
          </a:xfrm>
          <a:prstGeom prst="rect">
            <a:avLst/>
          </a:prstGeom>
        </p:spPr>
        <p:txBody>
          <a:bodyPr spcFirstLastPara="1" wrap="square" lIns="0" tIns="12600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71" name="Google Shape;7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4" y="5338200"/>
            <a:ext cx="3821427" cy="38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Цитата">
  <p:cSld name="CUSTOM_3_1_1_2_2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76" name="Google Shape;76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81" name="Google Shape;81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456800"/>
          </a:xfrm>
          <a:prstGeom prst="rect">
            <a:avLst/>
          </a:prstGeom>
        </p:spPr>
        <p:txBody>
          <a:bodyPr spcFirstLastPara="1" wrap="square" lIns="0" tIns="36000" rIns="91425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9600"/>
              <a:buNone/>
              <a:defRPr sz="9600" b="1">
                <a:solidFill>
                  <a:srgbClr val="4BD0A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87" name="Google Shape;87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Описание спикера">
  <p:cSld name="CUSTOM_3_1_1_2_2_1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583390" y="1484566"/>
            <a:ext cx="5666400" cy="5666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8"/>
          <p:cNvSpPr txBox="1"/>
          <p:nvPr/>
        </p:nvSpPr>
        <p:spPr>
          <a:xfrm>
            <a:off x="735949" y="4075575"/>
            <a:ext cx="53487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8"/>
          <p:cNvSpPr txBox="1">
            <a:spLocks noGrp="1"/>
          </p:cNvSpPr>
          <p:nvPr>
            <p:ph type="subTitle" idx="1"/>
          </p:nvPr>
        </p:nvSpPr>
        <p:spPr>
          <a:xfrm>
            <a:off x="7697850" y="3691325"/>
            <a:ext cx="8575200" cy="1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7702550" y="2210675"/>
            <a:ext cx="8570400" cy="1486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7702550" y="4946834"/>
            <a:ext cx="7132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latin typeface="Proxima Nova"/>
                <a:ea typeface="Proxima Nova"/>
                <a:cs typeface="Proxima Nova"/>
                <a:sym typeface="Proxima Nova"/>
              </a:rPr>
              <a:t>Аккаунты в соц.сетях</a:t>
            </a:r>
            <a:endParaRPr sz="24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8" name="Google Shape;98;p8"/>
          <p:cNvGrpSpPr/>
          <p:nvPr/>
        </p:nvGrpSpPr>
        <p:grpSpPr>
          <a:xfrm>
            <a:off x="7702559" y="5935323"/>
            <a:ext cx="484202" cy="484202"/>
            <a:chOff x="1190625" y="238125"/>
            <a:chExt cx="4905800" cy="4905800"/>
          </a:xfrm>
        </p:grpSpPr>
        <p:sp>
          <p:nvSpPr>
            <p:cNvPr id="99" name="Google Shape;99;p8"/>
            <p:cNvSpPr/>
            <p:nvPr/>
          </p:nvSpPr>
          <p:spPr>
            <a:xfrm>
              <a:off x="1190625" y="238125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136650" y="1629200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1" name="Google Shape;101;p8"/>
          <p:cNvGrpSpPr/>
          <p:nvPr/>
        </p:nvGrpSpPr>
        <p:grpSpPr>
          <a:xfrm>
            <a:off x="7697508" y="6668934"/>
            <a:ext cx="503580" cy="503580"/>
            <a:chOff x="1190625" y="238125"/>
            <a:chExt cx="5186200" cy="5186200"/>
          </a:xfrm>
        </p:grpSpPr>
        <p:sp>
          <p:nvSpPr>
            <p:cNvPr id="102" name="Google Shape;102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2726600" y="1774100"/>
              <a:ext cx="2190150" cy="2190150"/>
            </a:xfrm>
            <a:custGeom>
              <a:avLst/>
              <a:gdLst/>
              <a:ahLst/>
              <a:cxnLst/>
              <a:rect l="l" t="t" r="r" b="b"/>
              <a:pathLst>
                <a:path w="87606" h="87606" extrusionOk="0">
                  <a:moveTo>
                    <a:pt x="66580" y="15186"/>
                  </a:moveTo>
                  <a:cubicBezTo>
                    <a:pt x="68216" y="15186"/>
                    <a:pt x="69617" y="15887"/>
                    <a:pt x="70552" y="16821"/>
                  </a:cubicBezTo>
                  <a:cubicBezTo>
                    <a:pt x="71486" y="17755"/>
                    <a:pt x="72187" y="19157"/>
                    <a:pt x="72187" y="20792"/>
                  </a:cubicBezTo>
                  <a:cubicBezTo>
                    <a:pt x="72187" y="22194"/>
                    <a:pt x="71486" y="23596"/>
                    <a:pt x="70552" y="24530"/>
                  </a:cubicBezTo>
                  <a:cubicBezTo>
                    <a:pt x="69617" y="25698"/>
                    <a:pt x="68216" y="26166"/>
                    <a:pt x="66580" y="26166"/>
                  </a:cubicBezTo>
                  <a:cubicBezTo>
                    <a:pt x="65179" y="26166"/>
                    <a:pt x="63777" y="25698"/>
                    <a:pt x="62843" y="24530"/>
                  </a:cubicBezTo>
                  <a:cubicBezTo>
                    <a:pt x="61675" y="23596"/>
                    <a:pt x="61207" y="22194"/>
                    <a:pt x="61207" y="20792"/>
                  </a:cubicBezTo>
                  <a:cubicBezTo>
                    <a:pt x="61207" y="19157"/>
                    <a:pt x="61675" y="17755"/>
                    <a:pt x="62843" y="16821"/>
                  </a:cubicBezTo>
                  <a:cubicBezTo>
                    <a:pt x="63777" y="15887"/>
                    <a:pt x="65179" y="15186"/>
                    <a:pt x="66580" y="15186"/>
                  </a:cubicBezTo>
                  <a:close/>
                  <a:moveTo>
                    <a:pt x="43686" y="30604"/>
                  </a:moveTo>
                  <a:cubicBezTo>
                    <a:pt x="40182" y="30604"/>
                    <a:pt x="36912" y="32006"/>
                    <a:pt x="34342" y="34342"/>
                  </a:cubicBezTo>
                  <a:cubicBezTo>
                    <a:pt x="32006" y="36912"/>
                    <a:pt x="30604" y="40182"/>
                    <a:pt x="30604" y="43686"/>
                  </a:cubicBezTo>
                  <a:cubicBezTo>
                    <a:pt x="30604" y="47191"/>
                    <a:pt x="32006" y="50461"/>
                    <a:pt x="34342" y="53031"/>
                  </a:cubicBezTo>
                  <a:cubicBezTo>
                    <a:pt x="36912" y="55367"/>
                    <a:pt x="40182" y="56769"/>
                    <a:pt x="43686" y="56769"/>
                  </a:cubicBezTo>
                  <a:cubicBezTo>
                    <a:pt x="47191" y="56769"/>
                    <a:pt x="50461" y="55367"/>
                    <a:pt x="53031" y="53031"/>
                  </a:cubicBezTo>
                  <a:cubicBezTo>
                    <a:pt x="55367" y="50461"/>
                    <a:pt x="56769" y="47191"/>
                    <a:pt x="56769" y="43686"/>
                  </a:cubicBezTo>
                  <a:cubicBezTo>
                    <a:pt x="56769" y="40182"/>
                    <a:pt x="55367" y="36912"/>
                    <a:pt x="53031" y="34342"/>
                  </a:cubicBezTo>
                  <a:cubicBezTo>
                    <a:pt x="50461" y="32006"/>
                    <a:pt x="47191" y="30604"/>
                    <a:pt x="43686" y="30604"/>
                  </a:cubicBezTo>
                  <a:close/>
                  <a:moveTo>
                    <a:pt x="43686" y="21727"/>
                  </a:moveTo>
                  <a:cubicBezTo>
                    <a:pt x="49527" y="21727"/>
                    <a:pt x="55133" y="24063"/>
                    <a:pt x="59105" y="28268"/>
                  </a:cubicBezTo>
                  <a:cubicBezTo>
                    <a:pt x="63310" y="32239"/>
                    <a:pt x="65646" y="37846"/>
                    <a:pt x="65646" y="43686"/>
                  </a:cubicBezTo>
                  <a:cubicBezTo>
                    <a:pt x="65646" y="49527"/>
                    <a:pt x="63310" y="55133"/>
                    <a:pt x="59105" y="59105"/>
                  </a:cubicBezTo>
                  <a:cubicBezTo>
                    <a:pt x="55133" y="63310"/>
                    <a:pt x="49527" y="65646"/>
                    <a:pt x="43686" y="65646"/>
                  </a:cubicBezTo>
                  <a:cubicBezTo>
                    <a:pt x="37846" y="65646"/>
                    <a:pt x="32239" y="63310"/>
                    <a:pt x="28268" y="59105"/>
                  </a:cubicBezTo>
                  <a:cubicBezTo>
                    <a:pt x="24063" y="55133"/>
                    <a:pt x="21727" y="49527"/>
                    <a:pt x="21727" y="43686"/>
                  </a:cubicBezTo>
                  <a:cubicBezTo>
                    <a:pt x="21727" y="37846"/>
                    <a:pt x="24063" y="32239"/>
                    <a:pt x="28268" y="28268"/>
                  </a:cubicBezTo>
                  <a:cubicBezTo>
                    <a:pt x="32239" y="24063"/>
                    <a:pt x="37846" y="21727"/>
                    <a:pt x="43686" y="21727"/>
                  </a:cubicBezTo>
                  <a:close/>
                  <a:moveTo>
                    <a:pt x="43686" y="1"/>
                  </a:moveTo>
                  <a:cubicBezTo>
                    <a:pt x="31772" y="1"/>
                    <a:pt x="30371" y="1"/>
                    <a:pt x="25698" y="235"/>
                  </a:cubicBezTo>
                  <a:cubicBezTo>
                    <a:pt x="21026" y="468"/>
                    <a:pt x="17755" y="1169"/>
                    <a:pt x="14952" y="2103"/>
                  </a:cubicBezTo>
                  <a:cubicBezTo>
                    <a:pt x="12149" y="3272"/>
                    <a:pt x="9345" y="4907"/>
                    <a:pt x="7243" y="7243"/>
                  </a:cubicBezTo>
                  <a:cubicBezTo>
                    <a:pt x="4907" y="9345"/>
                    <a:pt x="3272" y="12149"/>
                    <a:pt x="2103" y="14952"/>
                  </a:cubicBezTo>
                  <a:cubicBezTo>
                    <a:pt x="1169" y="17755"/>
                    <a:pt x="468" y="21026"/>
                    <a:pt x="235" y="25698"/>
                  </a:cubicBezTo>
                  <a:cubicBezTo>
                    <a:pt x="1" y="30371"/>
                    <a:pt x="1" y="31772"/>
                    <a:pt x="1" y="43686"/>
                  </a:cubicBezTo>
                  <a:cubicBezTo>
                    <a:pt x="1" y="55601"/>
                    <a:pt x="1" y="57002"/>
                    <a:pt x="235" y="61675"/>
                  </a:cubicBezTo>
                  <a:cubicBezTo>
                    <a:pt x="468" y="66347"/>
                    <a:pt x="1169" y="69617"/>
                    <a:pt x="2103" y="72421"/>
                  </a:cubicBezTo>
                  <a:cubicBezTo>
                    <a:pt x="3272" y="75224"/>
                    <a:pt x="4907" y="78027"/>
                    <a:pt x="7243" y="80130"/>
                  </a:cubicBezTo>
                  <a:cubicBezTo>
                    <a:pt x="9345" y="82466"/>
                    <a:pt x="12149" y="84101"/>
                    <a:pt x="14952" y="85269"/>
                  </a:cubicBezTo>
                  <a:cubicBezTo>
                    <a:pt x="17755" y="86204"/>
                    <a:pt x="21026" y="86905"/>
                    <a:pt x="25698" y="87138"/>
                  </a:cubicBezTo>
                  <a:cubicBezTo>
                    <a:pt x="30371" y="87372"/>
                    <a:pt x="31772" y="87605"/>
                    <a:pt x="43686" y="87605"/>
                  </a:cubicBezTo>
                  <a:cubicBezTo>
                    <a:pt x="55601" y="87605"/>
                    <a:pt x="57002" y="87372"/>
                    <a:pt x="61675" y="87138"/>
                  </a:cubicBezTo>
                  <a:cubicBezTo>
                    <a:pt x="66347" y="86905"/>
                    <a:pt x="69617" y="86204"/>
                    <a:pt x="72421" y="85269"/>
                  </a:cubicBezTo>
                  <a:cubicBezTo>
                    <a:pt x="75224" y="84101"/>
                    <a:pt x="78027" y="82466"/>
                    <a:pt x="80130" y="80130"/>
                  </a:cubicBezTo>
                  <a:cubicBezTo>
                    <a:pt x="82466" y="78027"/>
                    <a:pt x="84101" y="75224"/>
                    <a:pt x="85269" y="72421"/>
                  </a:cubicBezTo>
                  <a:cubicBezTo>
                    <a:pt x="86204" y="69617"/>
                    <a:pt x="86905" y="66347"/>
                    <a:pt x="87138" y="61675"/>
                  </a:cubicBezTo>
                  <a:cubicBezTo>
                    <a:pt x="87372" y="57002"/>
                    <a:pt x="87605" y="55601"/>
                    <a:pt x="87605" y="43686"/>
                  </a:cubicBezTo>
                  <a:cubicBezTo>
                    <a:pt x="87605" y="31772"/>
                    <a:pt x="87372" y="30371"/>
                    <a:pt x="87138" y="25698"/>
                  </a:cubicBezTo>
                  <a:cubicBezTo>
                    <a:pt x="86905" y="21026"/>
                    <a:pt x="86204" y="17755"/>
                    <a:pt x="85269" y="14952"/>
                  </a:cubicBezTo>
                  <a:cubicBezTo>
                    <a:pt x="84101" y="12149"/>
                    <a:pt x="82466" y="9345"/>
                    <a:pt x="80130" y="7243"/>
                  </a:cubicBezTo>
                  <a:cubicBezTo>
                    <a:pt x="77794" y="4907"/>
                    <a:pt x="75224" y="3272"/>
                    <a:pt x="72421" y="2103"/>
                  </a:cubicBezTo>
                  <a:cubicBezTo>
                    <a:pt x="69617" y="1169"/>
                    <a:pt x="66347" y="468"/>
                    <a:pt x="61675" y="235"/>
                  </a:cubicBezTo>
                  <a:cubicBezTo>
                    <a:pt x="57002" y="1"/>
                    <a:pt x="55601" y="1"/>
                    <a:pt x="43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" name="Google Shape;104;p8"/>
          <p:cNvGrpSpPr/>
          <p:nvPr/>
        </p:nvGrpSpPr>
        <p:grpSpPr>
          <a:xfrm>
            <a:off x="7697704" y="7415521"/>
            <a:ext cx="493726" cy="493726"/>
            <a:chOff x="1190625" y="238125"/>
            <a:chExt cx="5186200" cy="5186200"/>
          </a:xfrm>
        </p:grpSpPr>
        <p:sp>
          <p:nvSpPr>
            <p:cNvPr id="105" name="Google Shape;105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2498850" y="1698200"/>
              <a:ext cx="2493825" cy="2264050"/>
            </a:xfrm>
            <a:custGeom>
              <a:avLst/>
              <a:gdLst/>
              <a:ahLst/>
              <a:cxnLst/>
              <a:rect l="l" t="t" r="r" b="b"/>
              <a:pathLst>
                <a:path w="99753" h="90562" extrusionOk="0">
                  <a:moveTo>
                    <a:pt x="91810" y="7943"/>
                  </a:moveTo>
                  <a:cubicBezTo>
                    <a:pt x="91810" y="8176"/>
                    <a:pt x="91810" y="8176"/>
                    <a:pt x="91810" y="8644"/>
                  </a:cubicBezTo>
                  <a:lnTo>
                    <a:pt x="77559" y="81998"/>
                  </a:lnTo>
                  <a:cubicBezTo>
                    <a:pt x="77559" y="82231"/>
                    <a:pt x="77326" y="82465"/>
                    <a:pt x="77092" y="82699"/>
                  </a:cubicBezTo>
                  <a:cubicBezTo>
                    <a:pt x="76995" y="82795"/>
                    <a:pt x="76899" y="82852"/>
                    <a:pt x="76735" y="82852"/>
                  </a:cubicBezTo>
                  <a:cubicBezTo>
                    <a:pt x="76505" y="82852"/>
                    <a:pt x="76141" y="82739"/>
                    <a:pt x="75457" y="82465"/>
                  </a:cubicBezTo>
                  <a:lnTo>
                    <a:pt x="52796" y="64944"/>
                  </a:lnTo>
                  <a:lnTo>
                    <a:pt x="39247" y="77559"/>
                  </a:lnTo>
                  <a:lnTo>
                    <a:pt x="42050" y="59104"/>
                  </a:lnTo>
                  <a:lnTo>
                    <a:pt x="78961" y="24062"/>
                  </a:lnTo>
                  <a:cubicBezTo>
                    <a:pt x="80363" y="22660"/>
                    <a:pt x="79895" y="22427"/>
                    <a:pt x="79895" y="22427"/>
                  </a:cubicBezTo>
                  <a:cubicBezTo>
                    <a:pt x="79895" y="21679"/>
                    <a:pt x="79522" y="21455"/>
                    <a:pt x="79073" y="21455"/>
                  </a:cubicBezTo>
                  <a:cubicBezTo>
                    <a:pt x="78400" y="21455"/>
                    <a:pt x="77559" y="21960"/>
                    <a:pt x="77559" y="21960"/>
                  </a:cubicBezTo>
                  <a:lnTo>
                    <a:pt x="31071" y="51161"/>
                  </a:lnTo>
                  <a:lnTo>
                    <a:pt x="31071" y="50927"/>
                  </a:lnTo>
                  <a:lnTo>
                    <a:pt x="8877" y="43452"/>
                  </a:lnTo>
                  <a:lnTo>
                    <a:pt x="8877" y="43218"/>
                  </a:lnTo>
                  <a:lnTo>
                    <a:pt x="9111" y="43218"/>
                  </a:lnTo>
                  <a:cubicBezTo>
                    <a:pt x="9111" y="43218"/>
                    <a:pt x="28968" y="34808"/>
                    <a:pt x="49292" y="26165"/>
                  </a:cubicBezTo>
                  <a:cubicBezTo>
                    <a:pt x="59338" y="21726"/>
                    <a:pt x="69616" y="17287"/>
                    <a:pt x="77326" y="14017"/>
                  </a:cubicBezTo>
                  <a:cubicBezTo>
                    <a:pt x="85268" y="10746"/>
                    <a:pt x="91109" y="8176"/>
                    <a:pt x="91342" y="8176"/>
                  </a:cubicBezTo>
                  <a:cubicBezTo>
                    <a:pt x="91810" y="7943"/>
                    <a:pt x="91576" y="7943"/>
                    <a:pt x="91810" y="7943"/>
                  </a:cubicBezTo>
                  <a:close/>
                  <a:moveTo>
                    <a:pt x="92277" y="0"/>
                  </a:moveTo>
                  <a:cubicBezTo>
                    <a:pt x="90875" y="0"/>
                    <a:pt x="89707" y="467"/>
                    <a:pt x="88539" y="934"/>
                  </a:cubicBezTo>
                  <a:cubicBezTo>
                    <a:pt x="87605" y="1402"/>
                    <a:pt x="82232" y="3504"/>
                    <a:pt x="74522" y="6775"/>
                  </a:cubicBezTo>
                  <a:lnTo>
                    <a:pt x="46255" y="18923"/>
                  </a:lnTo>
                  <a:cubicBezTo>
                    <a:pt x="25931" y="27566"/>
                    <a:pt x="6074" y="35976"/>
                    <a:pt x="6074" y="35976"/>
                  </a:cubicBezTo>
                  <a:lnTo>
                    <a:pt x="6308" y="35976"/>
                  </a:lnTo>
                  <a:cubicBezTo>
                    <a:pt x="6308" y="35976"/>
                    <a:pt x="4906" y="36443"/>
                    <a:pt x="3504" y="37378"/>
                  </a:cubicBezTo>
                  <a:cubicBezTo>
                    <a:pt x="2803" y="38079"/>
                    <a:pt x="1869" y="38780"/>
                    <a:pt x="1402" y="39714"/>
                  </a:cubicBezTo>
                  <a:cubicBezTo>
                    <a:pt x="701" y="40649"/>
                    <a:pt x="0" y="42284"/>
                    <a:pt x="234" y="43919"/>
                  </a:cubicBezTo>
                  <a:cubicBezTo>
                    <a:pt x="701" y="46722"/>
                    <a:pt x="2336" y="48358"/>
                    <a:pt x="3738" y="49292"/>
                  </a:cubicBezTo>
                  <a:cubicBezTo>
                    <a:pt x="4906" y="50227"/>
                    <a:pt x="6308" y="50694"/>
                    <a:pt x="6308" y="50694"/>
                  </a:cubicBezTo>
                  <a:lnTo>
                    <a:pt x="24997" y="57001"/>
                  </a:lnTo>
                  <a:cubicBezTo>
                    <a:pt x="25697" y="59805"/>
                    <a:pt x="30603" y="75924"/>
                    <a:pt x="31771" y="79662"/>
                  </a:cubicBezTo>
                  <a:cubicBezTo>
                    <a:pt x="32472" y="81998"/>
                    <a:pt x="33173" y="83400"/>
                    <a:pt x="33874" y="84334"/>
                  </a:cubicBezTo>
                  <a:cubicBezTo>
                    <a:pt x="34341" y="85035"/>
                    <a:pt x="34808" y="85502"/>
                    <a:pt x="35509" y="85736"/>
                  </a:cubicBezTo>
                  <a:cubicBezTo>
                    <a:pt x="35743" y="85969"/>
                    <a:pt x="35976" y="86203"/>
                    <a:pt x="36444" y="86203"/>
                  </a:cubicBezTo>
                  <a:lnTo>
                    <a:pt x="36677" y="86203"/>
                  </a:lnTo>
                  <a:cubicBezTo>
                    <a:pt x="37285" y="86390"/>
                    <a:pt x="37864" y="86465"/>
                    <a:pt x="38402" y="86465"/>
                  </a:cubicBezTo>
                  <a:cubicBezTo>
                    <a:pt x="40555" y="86465"/>
                    <a:pt x="42050" y="85268"/>
                    <a:pt x="42050" y="85268"/>
                  </a:cubicBezTo>
                  <a:lnTo>
                    <a:pt x="42284" y="85268"/>
                  </a:lnTo>
                  <a:lnTo>
                    <a:pt x="53264" y="74989"/>
                  </a:lnTo>
                  <a:lnTo>
                    <a:pt x="71719" y="89473"/>
                  </a:lnTo>
                  <a:lnTo>
                    <a:pt x="72186" y="89707"/>
                  </a:lnTo>
                  <a:cubicBezTo>
                    <a:pt x="73559" y="90308"/>
                    <a:pt x="74963" y="90562"/>
                    <a:pt x="76294" y="90562"/>
                  </a:cubicBezTo>
                  <a:cubicBezTo>
                    <a:pt x="78589" y="90562"/>
                    <a:pt x="80668" y="89807"/>
                    <a:pt x="81998" y="88773"/>
                  </a:cubicBezTo>
                  <a:cubicBezTo>
                    <a:pt x="83867" y="86904"/>
                    <a:pt x="84801" y="84801"/>
                    <a:pt x="84801" y="84801"/>
                  </a:cubicBezTo>
                  <a:lnTo>
                    <a:pt x="84801" y="84568"/>
                  </a:lnTo>
                  <a:lnTo>
                    <a:pt x="99052" y="10279"/>
                  </a:lnTo>
                  <a:cubicBezTo>
                    <a:pt x="99519" y="8410"/>
                    <a:pt x="99752" y="6775"/>
                    <a:pt x="99285" y="5139"/>
                  </a:cubicBezTo>
                  <a:cubicBezTo>
                    <a:pt x="98818" y="3504"/>
                    <a:pt x="97650" y="1869"/>
                    <a:pt x="96248" y="1168"/>
                  </a:cubicBezTo>
                  <a:cubicBezTo>
                    <a:pt x="95080" y="234"/>
                    <a:pt x="93679" y="0"/>
                    <a:pt x="92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7697744" y="8157032"/>
            <a:ext cx="498394" cy="498394"/>
            <a:chOff x="1190625" y="238125"/>
            <a:chExt cx="5186200" cy="5186200"/>
          </a:xfrm>
        </p:grpSpPr>
        <p:sp>
          <p:nvSpPr>
            <p:cNvPr id="108" name="Google Shape;108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2942700" y="1803325"/>
              <a:ext cx="1868925" cy="1757950"/>
            </a:xfrm>
            <a:custGeom>
              <a:avLst/>
              <a:gdLst/>
              <a:ahLst/>
              <a:cxnLst/>
              <a:rect l="l" t="t" r="r" b="b"/>
              <a:pathLst>
                <a:path w="74757" h="70318" extrusionOk="0">
                  <a:moveTo>
                    <a:pt x="7943" y="0"/>
                  </a:moveTo>
                  <a:cubicBezTo>
                    <a:pt x="5841" y="0"/>
                    <a:pt x="3972" y="701"/>
                    <a:pt x="2337" y="2336"/>
                  </a:cubicBezTo>
                  <a:cubicBezTo>
                    <a:pt x="935" y="3738"/>
                    <a:pt x="1" y="5607"/>
                    <a:pt x="1" y="7709"/>
                  </a:cubicBezTo>
                  <a:cubicBezTo>
                    <a:pt x="1" y="9812"/>
                    <a:pt x="935" y="11914"/>
                    <a:pt x="2337" y="13316"/>
                  </a:cubicBezTo>
                  <a:cubicBezTo>
                    <a:pt x="3972" y="14718"/>
                    <a:pt x="5841" y="15652"/>
                    <a:pt x="7943" y="15652"/>
                  </a:cubicBezTo>
                  <a:cubicBezTo>
                    <a:pt x="10046" y="15652"/>
                    <a:pt x="11915" y="14718"/>
                    <a:pt x="13550" y="13316"/>
                  </a:cubicBezTo>
                  <a:cubicBezTo>
                    <a:pt x="14952" y="11914"/>
                    <a:pt x="15653" y="9812"/>
                    <a:pt x="15653" y="7709"/>
                  </a:cubicBezTo>
                  <a:cubicBezTo>
                    <a:pt x="15653" y="5840"/>
                    <a:pt x="14952" y="3738"/>
                    <a:pt x="13550" y="2336"/>
                  </a:cubicBezTo>
                  <a:cubicBezTo>
                    <a:pt x="11915" y="701"/>
                    <a:pt x="10046" y="0"/>
                    <a:pt x="7943" y="0"/>
                  </a:cubicBezTo>
                  <a:close/>
                  <a:moveTo>
                    <a:pt x="234" y="21492"/>
                  </a:moveTo>
                  <a:lnTo>
                    <a:pt x="234" y="70317"/>
                  </a:lnTo>
                  <a:lnTo>
                    <a:pt x="15886" y="70317"/>
                  </a:lnTo>
                  <a:lnTo>
                    <a:pt x="15886" y="21492"/>
                  </a:lnTo>
                  <a:close/>
                  <a:moveTo>
                    <a:pt x="56564" y="19886"/>
                  </a:moveTo>
                  <a:cubicBezTo>
                    <a:pt x="49899" y="19886"/>
                    <a:pt x="43331" y="22967"/>
                    <a:pt x="40649" y="28033"/>
                  </a:cubicBezTo>
                  <a:lnTo>
                    <a:pt x="40649" y="21492"/>
                  </a:lnTo>
                  <a:lnTo>
                    <a:pt x="25231" y="21492"/>
                  </a:lnTo>
                  <a:lnTo>
                    <a:pt x="25231" y="70317"/>
                  </a:lnTo>
                  <a:lnTo>
                    <a:pt x="40649" y="70317"/>
                  </a:lnTo>
                  <a:lnTo>
                    <a:pt x="40649" y="44620"/>
                  </a:lnTo>
                  <a:cubicBezTo>
                    <a:pt x="40649" y="37328"/>
                    <a:pt x="45481" y="33400"/>
                    <a:pt x="50201" y="33400"/>
                  </a:cubicBezTo>
                  <a:cubicBezTo>
                    <a:pt x="54704" y="33400"/>
                    <a:pt x="59104" y="36977"/>
                    <a:pt x="59104" y="44620"/>
                  </a:cubicBezTo>
                  <a:lnTo>
                    <a:pt x="59104" y="70317"/>
                  </a:lnTo>
                  <a:lnTo>
                    <a:pt x="74756" y="70317"/>
                  </a:lnTo>
                  <a:lnTo>
                    <a:pt x="74756" y="39480"/>
                  </a:lnTo>
                  <a:cubicBezTo>
                    <a:pt x="74756" y="25516"/>
                    <a:pt x="65572" y="19886"/>
                    <a:pt x="56564" y="198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" name="Google Shape;110;p8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11" name="Google Shape;111;p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5" name="Google Shape;115;p8"/>
          <p:cNvSpPr txBox="1">
            <a:spLocks noGrp="1"/>
          </p:cNvSpPr>
          <p:nvPr>
            <p:ph type="subTitle" idx="2"/>
          </p:nvPr>
        </p:nvSpPr>
        <p:spPr>
          <a:xfrm>
            <a:off x="8393025" y="6666034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subTitle" idx="3"/>
          </p:nvPr>
        </p:nvSpPr>
        <p:spPr>
          <a:xfrm>
            <a:off x="8393025" y="5932609"/>
            <a:ext cx="5021700" cy="4905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4"/>
          </p:nvPr>
        </p:nvSpPr>
        <p:spPr>
          <a:xfrm>
            <a:off x="8393025" y="7408997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5"/>
          </p:nvPr>
        </p:nvSpPr>
        <p:spPr>
          <a:xfrm>
            <a:off x="8393025" y="8156697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120" name="Google Shape;12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4" y="5338200"/>
            <a:ext cx="3821427" cy="38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Описание спикера 2">
  <p:cSld name="CUSTOM_3_1_1_2_2_1_1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71531" y="513931"/>
            <a:ext cx="4269600" cy="42696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"/>
          <p:cNvSpPr txBox="1"/>
          <p:nvPr/>
        </p:nvSpPr>
        <p:spPr>
          <a:xfrm>
            <a:off x="804050" y="2221950"/>
            <a:ext cx="38151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98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6269100" y="2949150"/>
            <a:ext cx="10003800" cy="1493100"/>
          </a:xfrm>
          <a:prstGeom prst="rect">
            <a:avLst/>
          </a:prstGeom>
        </p:spPr>
        <p:txBody>
          <a:bodyPr spcFirstLastPara="1" wrap="square" lIns="0" tIns="216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6268650" y="980400"/>
            <a:ext cx="10003800" cy="1983600"/>
          </a:xfrm>
          <a:prstGeom prst="rect">
            <a:avLst/>
          </a:prstGeom>
        </p:spPr>
        <p:txBody>
          <a:bodyPr spcFirstLastPara="1" wrap="square" lIns="0" tIns="72000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2"/>
          </p:nvPr>
        </p:nvSpPr>
        <p:spPr>
          <a:xfrm>
            <a:off x="6268650" y="5436000"/>
            <a:ext cx="5706000" cy="2721600"/>
          </a:xfrm>
          <a:prstGeom prst="rect">
            <a:avLst/>
          </a:prstGeom>
        </p:spPr>
        <p:txBody>
          <a:bodyPr spcFirstLastPara="1" wrap="square" lIns="0" tIns="180000" rIns="36000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9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30" name="Google Shape;130;p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4" name="Google Shape;134;p9"/>
          <p:cNvSpPr txBox="1">
            <a:spLocks noGrp="1"/>
          </p:cNvSpPr>
          <p:nvPr>
            <p:ph type="subTitle" idx="3"/>
          </p:nvPr>
        </p:nvSpPr>
        <p:spPr>
          <a:xfrm>
            <a:off x="6963825" y="8404925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551850" y="5472000"/>
            <a:ext cx="28584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Proxima Nova"/>
                <a:ea typeface="Proxima Nova"/>
                <a:cs typeface="Proxima Nova"/>
                <a:sym typeface="Proxima Nova"/>
              </a:rPr>
              <a:t>О спикере</a:t>
            </a:r>
            <a:endParaRPr sz="3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551700" y="8401050"/>
            <a:ext cx="2858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roxima Nova"/>
                <a:ea typeface="Proxima Nova"/>
                <a:cs typeface="Proxima Nova"/>
                <a:sym typeface="Proxima Nova"/>
              </a:rPr>
              <a:t>Аккаунты в соц.сетях: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37" name="Google Shape;137;p9"/>
          <p:cNvGrpSpPr/>
          <p:nvPr/>
        </p:nvGrpSpPr>
        <p:grpSpPr>
          <a:xfrm>
            <a:off x="6269102" y="8402679"/>
            <a:ext cx="496952" cy="499901"/>
            <a:chOff x="1190625" y="238125"/>
            <a:chExt cx="4905800" cy="4905800"/>
          </a:xfrm>
        </p:grpSpPr>
        <p:sp>
          <p:nvSpPr>
            <p:cNvPr id="138" name="Google Shape;138;p9"/>
            <p:cNvSpPr/>
            <p:nvPr/>
          </p:nvSpPr>
          <p:spPr>
            <a:xfrm>
              <a:off x="1190625" y="238125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136650" y="1629200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0" name="Google Shape;140;p9"/>
          <p:cNvGrpSpPr/>
          <p:nvPr/>
        </p:nvGrpSpPr>
        <p:grpSpPr>
          <a:xfrm>
            <a:off x="6268825" y="9144186"/>
            <a:ext cx="497516" cy="500468"/>
            <a:chOff x="1190625" y="238125"/>
            <a:chExt cx="5186200" cy="5186200"/>
          </a:xfrm>
        </p:grpSpPr>
        <p:sp>
          <p:nvSpPr>
            <p:cNvPr id="141" name="Google Shape;141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2726600" y="1774100"/>
              <a:ext cx="2190150" cy="2190150"/>
            </a:xfrm>
            <a:custGeom>
              <a:avLst/>
              <a:gdLst/>
              <a:ahLst/>
              <a:cxnLst/>
              <a:rect l="l" t="t" r="r" b="b"/>
              <a:pathLst>
                <a:path w="87606" h="87606" extrusionOk="0">
                  <a:moveTo>
                    <a:pt x="66580" y="15186"/>
                  </a:moveTo>
                  <a:cubicBezTo>
                    <a:pt x="68216" y="15186"/>
                    <a:pt x="69617" y="15887"/>
                    <a:pt x="70552" y="16821"/>
                  </a:cubicBezTo>
                  <a:cubicBezTo>
                    <a:pt x="71486" y="17755"/>
                    <a:pt x="72187" y="19157"/>
                    <a:pt x="72187" y="20792"/>
                  </a:cubicBezTo>
                  <a:cubicBezTo>
                    <a:pt x="72187" y="22194"/>
                    <a:pt x="71486" y="23596"/>
                    <a:pt x="70552" y="24530"/>
                  </a:cubicBezTo>
                  <a:cubicBezTo>
                    <a:pt x="69617" y="25698"/>
                    <a:pt x="68216" y="26166"/>
                    <a:pt x="66580" y="26166"/>
                  </a:cubicBezTo>
                  <a:cubicBezTo>
                    <a:pt x="65179" y="26166"/>
                    <a:pt x="63777" y="25698"/>
                    <a:pt x="62843" y="24530"/>
                  </a:cubicBezTo>
                  <a:cubicBezTo>
                    <a:pt x="61675" y="23596"/>
                    <a:pt x="61207" y="22194"/>
                    <a:pt x="61207" y="20792"/>
                  </a:cubicBezTo>
                  <a:cubicBezTo>
                    <a:pt x="61207" y="19157"/>
                    <a:pt x="61675" y="17755"/>
                    <a:pt x="62843" y="16821"/>
                  </a:cubicBezTo>
                  <a:cubicBezTo>
                    <a:pt x="63777" y="15887"/>
                    <a:pt x="65179" y="15186"/>
                    <a:pt x="66580" y="15186"/>
                  </a:cubicBezTo>
                  <a:close/>
                  <a:moveTo>
                    <a:pt x="43686" y="30604"/>
                  </a:moveTo>
                  <a:cubicBezTo>
                    <a:pt x="40182" y="30604"/>
                    <a:pt x="36912" y="32006"/>
                    <a:pt x="34342" y="34342"/>
                  </a:cubicBezTo>
                  <a:cubicBezTo>
                    <a:pt x="32006" y="36912"/>
                    <a:pt x="30604" y="40182"/>
                    <a:pt x="30604" y="43686"/>
                  </a:cubicBezTo>
                  <a:cubicBezTo>
                    <a:pt x="30604" y="47191"/>
                    <a:pt x="32006" y="50461"/>
                    <a:pt x="34342" y="53031"/>
                  </a:cubicBezTo>
                  <a:cubicBezTo>
                    <a:pt x="36912" y="55367"/>
                    <a:pt x="40182" y="56769"/>
                    <a:pt x="43686" y="56769"/>
                  </a:cubicBezTo>
                  <a:cubicBezTo>
                    <a:pt x="47191" y="56769"/>
                    <a:pt x="50461" y="55367"/>
                    <a:pt x="53031" y="53031"/>
                  </a:cubicBezTo>
                  <a:cubicBezTo>
                    <a:pt x="55367" y="50461"/>
                    <a:pt x="56769" y="47191"/>
                    <a:pt x="56769" y="43686"/>
                  </a:cubicBezTo>
                  <a:cubicBezTo>
                    <a:pt x="56769" y="40182"/>
                    <a:pt x="55367" y="36912"/>
                    <a:pt x="53031" y="34342"/>
                  </a:cubicBezTo>
                  <a:cubicBezTo>
                    <a:pt x="50461" y="32006"/>
                    <a:pt x="47191" y="30604"/>
                    <a:pt x="43686" y="30604"/>
                  </a:cubicBezTo>
                  <a:close/>
                  <a:moveTo>
                    <a:pt x="43686" y="21727"/>
                  </a:moveTo>
                  <a:cubicBezTo>
                    <a:pt x="49527" y="21727"/>
                    <a:pt x="55133" y="24063"/>
                    <a:pt x="59105" y="28268"/>
                  </a:cubicBezTo>
                  <a:cubicBezTo>
                    <a:pt x="63310" y="32239"/>
                    <a:pt x="65646" y="37846"/>
                    <a:pt x="65646" y="43686"/>
                  </a:cubicBezTo>
                  <a:cubicBezTo>
                    <a:pt x="65646" y="49527"/>
                    <a:pt x="63310" y="55133"/>
                    <a:pt x="59105" y="59105"/>
                  </a:cubicBezTo>
                  <a:cubicBezTo>
                    <a:pt x="55133" y="63310"/>
                    <a:pt x="49527" y="65646"/>
                    <a:pt x="43686" y="65646"/>
                  </a:cubicBezTo>
                  <a:cubicBezTo>
                    <a:pt x="37846" y="65646"/>
                    <a:pt x="32239" y="63310"/>
                    <a:pt x="28268" y="59105"/>
                  </a:cubicBezTo>
                  <a:cubicBezTo>
                    <a:pt x="24063" y="55133"/>
                    <a:pt x="21727" y="49527"/>
                    <a:pt x="21727" y="43686"/>
                  </a:cubicBezTo>
                  <a:cubicBezTo>
                    <a:pt x="21727" y="37846"/>
                    <a:pt x="24063" y="32239"/>
                    <a:pt x="28268" y="28268"/>
                  </a:cubicBezTo>
                  <a:cubicBezTo>
                    <a:pt x="32239" y="24063"/>
                    <a:pt x="37846" y="21727"/>
                    <a:pt x="43686" y="21727"/>
                  </a:cubicBezTo>
                  <a:close/>
                  <a:moveTo>
                    <a:pt x="43686" y="1"/>
                  </a:moveTo>
                  <a:cubicBezTo>
                    <a:pt x="31772" y="1"/>
                    <a:pt x="30371" y="1"/>
                    <a:pt x="25698" y="235"/>
                  </a:cubicBezTo>
                  <a:cubicBezTo>
                    <a:pt x="21026" y="468"/>
                    <a:pt x="17755" y="1169"/>
                    <a:pt x="14952" y="2103"/>
                  </a:cubicBezTo>
                  <a:cubicBezTo>
                    <a:pt x="12149" y="3272"/>
                    <a:pt x="9345" y="4907"/>
                    <a:pt x="7243" y="7243"/>
                  </a:cubicBezTo>
                  <a:cubicBezTo>
                    <a:pt x="4907" y="9345"/>
                    <a:pt x="3272" y="12149"/>
                    <a:pt x="2103" y="14952"/>
                  </a:cubicBezTo>
                  <a:cubicBezTo>
                    <a:pt x="1169" y="17755"/>
                    <a:pt x="468" y="21026"/>
                    <a:pt x="235" y="25698"/>
                  </a:cubicBezTo>
                  <a:cubicBezTo>
                    <a:pt x="1" y="30371"/>
                    <a:pt x="1" y="31772"/>
                    <a:pt x="1" y="43686"/>
                  </a:cubicBezTo>
                  <a:cubicBezTo>
                    <a:pt x="1" y="55601"/>
                    <a:pt x="1" y="57002"/>
                    <a:pt x="235" y="61675"/>
                  </a:cubicBezTo>
                  <a:cubicBezTo>
                    <a:pt x="468" y="66347"/>
                    <a:pt x="1169" y="69617"/>
                    <a:pt x="2103" y="72421"/>
                  </a:cubicBezTo>
                  <a:cubicBezTo>
                    <a:pt x="3272" y="75224"/>
                    <a:pt x="4907" y="78027"/>
                    <a:pt x="7243" y="80130"/>
                  </a:cubicBezTo>
                  <a:cubicBezTo>
                    <a:pt x="9345" y="82466"/>
                    <a:pt x="12149" y="84101"/>
                    <a:pt x="14952" y="85269"/>
                  </a:cubicBezTo>
                  <a:cubicBezTo>
                    <a:pt x="17755" y="86204"/>
                    <a:pt x="21026" y="86905"/>
                    <a:pt x="25698" y="87138"/>
                  </a:cubicBezTo>
                  <a:cubicBezTo>
                    <a:pt x="30371" y="87372"/>
                    <a:pt x="31772" y="87605"/>
                    <a:pt x="43686" y="87605"/>
                  </a:cubicBezTo>
                  <a:cubicBezTo>
                    <a:pt x="55601" y="87605"/>
                    <a:pt x="57002" y="87372"/>
                    <a:pt x="61675" y="87138"/>
                  </a:cubicBezTo>
                  <a:cubicBezTo>
                    <a:pt x="66347" y="86905"/>
                    <a:pt x="69617" y="86204"/>
                    <a:pt x="72421" y="85269"/>
                  </a:cubicBezTo>
                  <a:cubicBezTo>
                    <a:pt x="75224" y="84101"/>
                    <a:pt x="78027" y="82466"/>
                    <a:pt x="80130" y="80130"/>
                  </a:cubicBezTo>
                  <a:cubicBezTo>
                    <a:pt x="82466" y="78027"/>
                    <a:pt x="84101" y="75224"/>
                    <a:pt x="85269" y="72421"/>
                  </a:cubicBezTo>
                  <a:cubicBezTo>
                    <a:pt x="86204" y="69617"/>
                    <a:pt x="86905" y="66347"/>
                    <a:pt x="87138" y="61675"/>
                  </a:cubicBezTo>
                  <a:cubicBezTo>
                    <a:pt x="87372" y="57002"/>
                    <a:pt x="87605" y="55601"/>
                    <a:pt x="87605" y="43686"/>
                  </a:cubicBezTo>
                  <a:cubicBezTo>
                    <a:pt x="87605" y="31772"/>
                    <a:pt x="87372" y="30371"/>
                    <a:pt x="87138" y="25698"/>
                  </a:cubicBezTo>
                  <a:cubicBezTo>
                    <a:pt x="86905" y="21026"/>
                    <a:pt x="86204" y="17755"/>
                    <a:pt x="85269" y="14952"/>
                  </a:cubicBezTo>
                  <a:cubicBezTo>
                    <a:pt x="84101" y="12149"/>
                    <a:pt x="82466" y="9345"/>
                    <a:pt x="80130" y="7243"/>
                  </a:cubicBezTo>
                  <a:cubicBezTo>
                    <a:pt x="77794" y="4907"/>
                    <a:pt x="75224" y="3272"/>
                    <a:pt x="72421" y="2103"/>
                  </a:cubicBezTo>
                  <a:cubicBezTo>
                    <a:pt x="69617" y="1169"/>
                    <a:pt x="66347" y="468"/>
                    <a:pt x="61675" y="235"/>
                  </a:cubicBezTo>
                  <a:cubicBezTo>
                    <a:pt x="57002" y="1"/>
                    <a:pt x="55601" y="1"/>
                    <a:pt x="43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3" name="Google Shape;143;p9"/>
          <p:cNvGrpSpPr/>
          <p:nvPr/>
        </p:nvGrpSpPr>
        <p:grpSpPr>
          <a:xfrm>
            <a:off x="11974538" y="8402463"/>
            <a:ext cx="498567" cy="500468"/>
            <a:chOff x="1190625" y="238125"/>
            <a:chExt cx="5186200" cy="5186200"/>
          </a:xfrm>
        </p:grpSpPr>
        <p:sp>
          <p:nvSpPr>
            <p:cNvPr id="144" name="Google Shape;144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498850" y="1698200"/>
              <a:ext cx="2493825" cy="2264050"/>
            </a:xfrm>
            <a:custGeom>
              <a:avLst/>
              <a:gdLst/>
              <a:ahLst/>
              <a:cxnLst/>
              <a:rect l="l" t="t" r="r" b="b"/>
              <a:pathLst>
                <a:path w="99753" h="90562" extrusionOk="0">
                  <a:moveTo>
                    <a:pt x="91810" y="7943"/>
                  </a:moveTo>
                  <a:cubicBezTo>
                    <a:pt x="91810" y="8176"/>
                    <a:pt x="91810" y="8176"/>
                    <a:pt x="91810" y="8644"/>
                  </a:cubicBezTo>
                  <a:lnTo>
                    <a:pt x="77559" y="81998"/>
                  </a:lnTo>
                  <a:cubicBezTo>
                    <a:pt x="77559" y="82231"/>
                    <a:pt x="77326" y="82465"/>
                    <a:pt x="77092" y="82699"/>
                  </a:cubicBezTo>
                  <a:cubicBezTo>
                    <a:pt x="76995" y="82795"/>
                    <a:pt x="76899" y="82852"/>
                    <a:pt x="76735" y="82852"/>
                  </a:cubicBezTo>
                  <a:cubicBezTo>
                    <a:pt x="76505" y="82852"/>
                    <a:pt x="76141" y="82739"/>
                    <a:pt x="75457" y="82465"/>
                  </a:cubicBezTo>
                  <a:lnTo>
                    <a:pt x="52796" y="64944"/>
                  </a:lnTo>
                  <a:lnTo>
                    <a:pt x="39247" y="77559"/>
                  </a:lnTo>
                  <a:lnTo>
                    <a:pt x="42050" y="59104"/>
                  </a:lnTo>
                  <a:lnTo>
                    <a:pt x="78961" y="24062"/>
                  </a:lnTo>
                  <a:cubicBezTo>
                    <a:pt x="80363" y="22660"/>
                    <a:pt x="79895" y="22427"/>
                    <a:pt x="79895" y="22427"/>
                  </a:cubicBezTo>
                  <a:cubicBezTo>
                    <a:pt x="79895" y="21679"/>
                    <a:pt x="79522" y="21455"/>
                    <a:pt x="79073" y="21455"/>
                  </a:cubicBezTo>
                  <a:cubicBezTo>
                    <a:pt x="78400" y="21455"/>
                    <a:pt x="77559" y="21960"/>
                    <a:pt x="77559" y="21960"/>
                  </a:cubicBezTo>
                  <a:lnTo>
                    <a:pt x="31071" y="51161"/>
                  </a:lnTo>
                  <a:lnTo>
                    <a:pt x="31071" y="50927"/>
                  </a:lnTo>
                  <a:lnTo>
                    <a:pt x="8877" y="43452"/>
                  </a:lnTo>
                  <a:lnTo>
                    <a:pt x="8877" y="43218"/>
                  </a:lnTo>
                  <a:lnTo>
                    <a:pt x="9111" y="43218"/>
                  </a:lnTo>
                  <a:cubicBezTo>
                    <a:pt x="9111" y="43218"/>
                    <a:pt x="28968" y="34808"/>
                    <a:pt x="49292" y="26165"/>
                  </a:cubicBezTo>
                  <a:cubicBezTo>
                    <a:pt x="59338" y="21726"/>
                    <a:pt x="69616" y="17287"/>
                    <a:pt x="77326" y="14017"/>
                  </a:cubicBezTo>
                  <a:cubicBezTo>
                    <a:pt x="85268" y="10746"/>
                    <a:pt x="91109" y="8176"/>
                    <a:pt x="91342" y="8176"/>
                  </a:cubicBezTo>
                  <a:cubicBezTo>
                    <a:pt x="91810" y="7943"/>
                    <a:pt x="91576" y="7943"/>
                    <a:pt x="91810" y="7943"/>
                  </a:cubicBezTo>
                  <a:close/>
                  <a:moveTo>
                    <a:pt x="92277" y="0"/>
                  </a:moveTo>
                  <a:cubicBezTo>
                    <a:pt x="90875" y="0"/>
                    <a:pt x="89707" y="467"/>
                    <a:pt x="88539" y="934"/>
                  </a:cubicBezTo>
                  <a:cubicBezTo>
                    <a:pt x="87605" y="1402"/>
                    <a:pt x="82232" y="3504"/>
                    <a:pt x="74522" y="6775"/>
                  </a:cubicBezTo>
                  <a:lnTo>
                    <a:pt x="46255" y="18923"/>
                  </a:lnTo>
                  <a:cubicBezTo>
                    <a:pt x="25931" y="27566"/>
                    <a:pt x="6074" y="35976"/>
                    <a:pt x="6074" y="35976"/>
                  </a:cubicBezTo>
                  <a:lnTo>
                    <a:pt x="6308" y="35976"/>
                  </a:lnTo>
                  <a:cubicBezTo>
                    <a:pt x="6308" y="35976"/>
                    <a:pt x="4906" y="36443"/>
                    <a:pt x="3504" y="37378"/>
                  </a:cubicBezTo>
                  <a:cubicBezTo>
                    <a:pt x="2803" y="38079"/>
                    <a:pt x="1869" y="38780"/>
                    <a:pt x="1402" y="39714"/>
                  </a:cubicBezTo>
                  <a:cubicBezTo>
                    <a:pt x="701" y="40649"/>
                    <a:pt x="0" y="42284"/>
                    <a:pt x="234" y="43919"/>
                  </a:cubicBezTo>
                  <a:cubicBezTo>
                    <a:pt x="701" y="46722"/>
                    <a:pt x="2336" y="48358"/>
                    <a:pt x="3738" y="49292"/>
                  </a:cubicBezTo>
                  <a:cubicBezTo>
                    <a:pt x="4906" y="50227"/>
                    <a:pt x="6308" y="50694"/>
                    <a:pt x="6308" y="50694"/>
                  </a:cubicBezTo>
                  <a:lnTo>
                    <a:pt x="24997" y="57001"/>
                  </a:lnTo>
                  <a:cubicBezTo>
                    <a:pt x="25697" y="59805"/>
                    <a:pt x="30603" y="75924"/>
                    <a:pt x="31771" y="79662"/>
                  </a:cubicBezTo>
                  <a:cubicBezTo>
                    <a:pt x="32472" y="81998"/>
                    <a:pt x="33173" y="83400"/>
                    <a:pt x="33874" y="84334"/>
                  </a:cubicBezTo>
                  <a:cubicBezTo>
                    <a:pt x="34341" y="85035"/>
                    <a:pt x="34808" y="85502"/>
                    <a:pt x="35509" y="85736"/>
                  </a:cubicBezTo>
                  <a:cubicBezTo>
                    <a:pt x="35743" y="85969"/>
                    <a:pt x="35976" y="86203"/>
                    <a:pt x="36444" y="86203"/>
                  </a:cubicBezTo>
                  <a:lnTo>
                    <a:pt x="36677" y="86203"/>
                  </a:lnTo>
                  <a:cubicBezTo>
                    <a:pt x="37285" y="86390"/>
                    <a:pt x="37864" y="86465"/>
                    <a:pt x="38402" y="86465"/>
                  </a:cubicBezTo>
                  <a:cubicBezTo>
                    <a:pt x="40555" y="86465"/>
                    <a:pt x="42050" y="85268"/>
                    <a:pt x="42050" y="85268"/>
                  </a:cubicBezTo>
                  <a:lnTo>
                    <a:pt x="42284" y="85268"/>
                  </a:lnTo>
                  <a:lnTo>
                    <a:pt x="53264" y="74989"/>
                  </a:lnTo>
                  <a:lnTo>
                    <a:pt x="71719" y="89473"/>
                  </a:lnTo>
                  <a:lnTo>
                    <a:pt x="72186" y="89707"/>
                  </a:lnTo>
                  <a:cubicBezTo>
                    <a:pt x="73559" y="90308"/>
                    <a:pt x="74963" y="90562"/>
                    <a:pt x="76294" y="90562"/>
                  </a:cubicBezTo>
                  <a:cubicBezTo>
                    <a:pt x="78589" y="90562"/>
                    <a:pt x="80668" y="89807"/>
                    <a:pt x="81998" y="88773"/>
                  </a:cubicBezTo>
                  <a:cubicBezTo>
                    <a:pt x="83867" y="86904"/>
                    <a:pt x="84801" y="84801"/>
                    <a:pt x="84801" y="84801"/>
                  </a:cubicBezTo>
                  <a:lnTo>
                    <a:pt x="84801" y="84568"/>
                  </a:lnTo>
                  <a:lnTo>
                    <a:pt x="99052" y="10279"/>
                  </a:lnTo>
                  <a:cubicBezTo>
                    <a:pt x="99519" y="8410"/>
                    <a:pt x="99752" y="6775"/>
                    <a:pt x="99285" y="5139"/>
                  </a:cubicBezTo>
                  <a:cubicBezTo>
                    <a:pt x="98818" y="3504"/>
                    <a:pt x="97650" y="1869"/>
                    <a:pt x="96248" y="1168"/>
                  </a:cubicBezTo>
                  <a:cubicBezTo>
                    <a:pt x="95080" y="234"/>
                    <a:pt x="93679" y="0"/>
                    <a:pt x="92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6" name="Google Shape;146;p9"/>
          <p:cNvGrpSpPr/>
          <p:nvPr/>
        </p:nvGrpSpPr>
        <p:grpSpPr>
          <a:xfrm>
            <a:off x="11974538" y="9144254"/>
            <a:ext cx="498567" cy="500468"/>
            <a:chOff x="1190625" y="238125"/>
            <a:chExt cx="5186200" cy="5186200"/>
          </a:xfrm>
        </p:grpSpPr>
        <p:sp>
          <p:nvSpPr>
            <p:cNvPr id="147" name="Google Shape;147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2942700" y="1803325"/>
              <a:ext cx="1868925" cy="1757950"/>
            </a:xfrm>
            <a:custGeom>
              <a:avLst/>
              <a:gdLst/>
              <a:ahLst/>
              <a:cxnLst/>
              <a:rect l="l" t="t" r="r" b="b"/>
              <a:pathLst>
                <a:path w="74757" h="70318" extrusionOk="0">
                  <a:moveTo>
                    <a:pt x="7943" y="0"/>
                  </a:moveTo>
                  <a:cubicBezTo>
                    <a:pt x="5841" y="0"/>
                    <a:pt x="3972" y="701"/>
                    <a:pt x="2337" y="2336"/>
                  </a:cubicBezTo>
                  <a:cubicBezTo>
                    <a:pt x="935" y="3738"/>
                    <a:pt x="1" y="5607"/>
                    <a:pt x="1" y="7709"/>
                  </a:cubicBezTo>
                  <a:cubicBezTo>
                    <a:pt x="1" y="9812"/>
                    <a:pt x="935" y="11914"/>
                    <a:pt x="2337" y="13316"/>
                  </a:cubicBezTo>
                  <a:cubicBezTo>
                    <a:pt x="3972" y="14718"/>
                    <a:pt x="5841" y="15652"/>
                    <a:pt x="7943" y="15652"/>
                  </a:cubicBezTo>
                  <a:cubicBezTo>
                    <a:pt x="10046" y="15652"/>
                    <a:pt x="11915" y="14718"/>
                    <a:pt x="13550" y="13316"/>
                  </a:cubicBezTo>
                  <a:cubicBezTo>
                    <a:pt x="14952" y="11914"/>
                    <a:pt x="15653" y="9812"/>
                    <a:pt x="15653" y="7709"/>
                  </a:cubicBezTo>
                  <a:cubicBezTo>
                    <a:pt x="15653" y="5840"/>
                    <a:pt x="14952" y="3738"/>
                    <a:pt x="13550" y="2336"/>
                  </a:cubicBezTo>
                  <a:cubicBezTo>
                    <a:pt x="11915" y="701"/>
                    <a:pt x="10046" y="0"/>
                    <a:pt x="7943" y="0"/>
                  </a:cubicBezTo>
                  <a:close/>
                  <a:moveTo>
                    <a:pt x="234" y="21492"/>
                  </a:moveTo>
                  <a:lnTo>
                    <a:pt x="234" y="70317"/>
                  </a:lnTo>
                  <a:lnTo>
                    <a:pt x="15886" y="70317"/>
                  </a:lnTo>
                  <a:lnTo>
                    <a:pt x="15886" y="21492"/>
                  </a:lnTo>
                  <a:close/>
                  <a:moveTo>
                    <a:pt x="56564" y="19886"/>
                  </a:moveTo>
                  <a:cubicBezTo>
                    <a:pt x="49899" y="19886"/>
                    <a:pt x="43331" y="22967"/>
                    <a:pt x="40649" y="28033"/>
                  </a:cubicBezTo>
                  <a:lnTo>
                    <a:pt x="40649" y="21492"/>
                  </a:lnTo>
                  <a:lnTo>
                    <a:pt x="25231" y="21492"/>
                  </a:lnTo>
                  <a:lnTo>
                    <a:pt x="25231" y="70317"/>
                  </a:lnTo>
                  <a:lnTo>
                    <a:pt x="40649" y="70317"/>
                  </a:lnTo>
                  <a:lnTo>
                    <a:pt x="40649" y="44620"/>
                  </a:lnTo>
                  <a:cubicBezTo>
                    <a:pt x="40649" y="37328"/>
                    <a:pt x="45481" y="33400"/>
                    <a:pt x="50201" y="33400"/>
                  </a:cubicBezTo>
                  <a:cubicBezTo>
                    <a:pt x="54704" y="33400"/>
                    <a:pt x="59104" y="36977"/>
                    <a:pt x="59104" y="44620"/>
                  </a:cubicBezTo>
                  <a:lnTo>
                    <a:pt x="59104" y="70317"/>
                  </a:lnTo>
                  <a:lnTo>
                    <a:pt x="74756" y="70317"/>
                  </a:lnTo>
                  <a:lnTo>
                    <a:pt x="74756" y="39480"/>
                  </a:lnTo>
                  <a:cubicBezTo>
                    <a:pt x="74756" y="25516"/>
                    <a:pt x="65572" y="19886"/>
                    <a:pt x="56564" y="198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9" name="Google Shape;149;p9"/>
          <p:cNvSpPr txBox="1">
            <a:spLocks noGrp="1"/>
          </p:cNvSpPr>
          <p:nvPr>
            <p:ph type="subTitle" idx="4"/>
          </p:nvPr>
        </p:nvSpPr>
        <p:spPr>
          <a:xfrm>
            <a:off x="6963825" y="9144513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5"/>
          </p:nvPr>
        </p:nvSpPr>
        <p:spPr>
          <a:xfrm>
            <a:off x="12695913" y="9144513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6"/>
          </p:nvPr>
        </p:nvSpPr>
        <p:spPr>
          <a:xfrm>
            <a:off x="12695925" y="8416975"/>
            <a:ext cx="4434600" cy="4821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subTitle" idx="7"/>
          </p:nvPr>
        </p:nvSpPr>
        <p:spPr>
          <a:xfrm>
            <a:off x="11985450" y="5436000"/>
            <a:ext cx="5750700" cy="2721600"/>
          </a:xfrm>
          <a:prstGeom prst="rect">
            <a:avLst/>
          </a:prstGeom>
        </p:spPr>
        <p:txBody>
          <a:bodyPr spcFirstLastPara="1" wrap="square" lIns="0" tIns="180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154" name="Google Shape;15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5" y="5436000"/>
            <a:ext cx="3420775" cy="37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Шесть элементов">
  <p:cSld name="CUSTOM_3_1_1_2_2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59" name="Google Shape;159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63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64" name="Google Shape;164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8" name="Google Shape;168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69" name="Google Shape;169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3" name="Google Shape;173;p10"/>
          <p:cNvSpPr txBox="1">
            <a:spLocks noGrp="1"/>
          </p:cNvSpPr>
          <p:nvPr>
            <p:ph type="body" idx="1"/>
          </p:nvPr>
        </p:nvSpPr>
        <p:spPr>
          <a:xfrm>
            <a:off x="541200" y="3452400"/>
            <a:ext cx="43158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50725" y="220980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0"/>
          <p:cNvSpPr/>
          <p:nvPr/>
        </p:nvSpPr>
        <p:spPr>
          <a:xfrm>
            <a:off x="6267725" y="221325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10"/>
          <p:cNvSpPr/>
          <p:nvPr/>
        </p:nvSpPr>
        <p:spPr>
          <a:xfrm>
            <a:off x="11986625" y="221325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10"/>
          <p:cNvSpPr/>
          <p:nvPr/>
        </p:nvSpPr>
        <p:spPr>
          <a:xfrm>
            <a:off x="5507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10"/>
          <p:cNvSpPr/>
          <p:nvPr/>
        </p:nvSpPr>
        <p:spPr>
          <a:xfrm>
            <a:off x="62677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10"/>
          <p:cNvSpPr/>
          <p:nvPr/>
        </p:nvSpPr>
        <p:spPr>
          <a:xfrm>
            <a:off x="119866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0"/>
          <p:cNvSpPr txBox="1">
            <a:spLocks noGrp="1"/>
          </p:cNvSpPr>
          <p:nvPr>
            <p:ph type="body" idx="2"/>
          </p:nvPr>
        </p:nvSpPr>
        <p:spPr>
          <a:xfrm>
            <a:off x="551850" y="6912000"/>
            <a:ext cx="43158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1" name="Google Shape;181;p10"/>
          <p:cNvSpPr txBox="1">
            <a:spLocks noGrp="1"/>
          </p:cNvSpPr>
          <p:nvPr>
            <p:ph type="body" idx="3"/>
          </p:nvPr>
        </p:nvSpPr>
        <p:spPr>
          <a:xfrm>
            <a:off x="6268650" y="3452400"/>
            <a:ext cx="45456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2" name="Google Shape;182;p10"/>
          <p:cNvSpPr txBox="1">
            <a:spLocks noGrp="1"/>
          </p:cNvSpPr>
          <p:nvPr>
            <p:ph type="body" idx="4"/>
          </p:nvPr>
        </p:nvSpPr>
        <p:spPr>
          <a:xfrm>
            <a:off x="6268625" y="6912000"/>
            <a:ext cx="42876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3" name="Google Shape;183;p10"/>
          <p:cNvSpPr txBox="1">
            <a:spLocks noGrp="1"/>
          </p:cNvSpPr>
          <p:nvPr>
            <p:ph type="body" idx="5"/>
          </p:nvPr>
        </p:nvSpPr>
        <p:spPr>
          <a:xfrm>
            <a:off x="11978000" y="3440550"/>
            <a:ext cx="43158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body" idx="6"/>
          </p:nvPr>
        </p:nvSpPr>
        <p:spPr>
          <a:xfrm>
            <a:off x="11978000" y="6912000"/>
            <a:ext cx="43158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grpSp>
        <p:nvGrpSpPr>
          <p:cNvPr id="185" name="Google Shape;185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86" name="Google Shape;186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1483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18773050" y="733450"/>
            <a:ext cx="3521100" cy="421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Впишите в круг иконку или текстовое </a:t>
            </a:r>
            <a:br>
              <a:rPr lang="ru"/>
            </a:br>
            <a:r>
              <a:rPr lang="ru"/>
              <a:t>значение с размером шрифта 30pt.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192" name="Google Shape;19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71427" y="2097078"/>
            <a:ext cx="2757157" cy="25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Три элемента">
  <p:cSld name="CUSTOM_3_1_1_2_2_1_1_1_1_2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96" name="Google Shape;196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0" name="Google Shape;200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01" name="Google Shape;201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5" name="Google Shape;205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06" name="Google Shape;206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0" name="Google Shape;210;p11"/>
          <p:cNvSpPr txBox="1">
            <a:spLocks noGrp="1"/>
          </p:cNvSpPr>
          <p:nvPr>
            <p:ph type="body" idx="1"/>
          </p:nvPr>
        </p:nvSpPr>
        <p:spPr>
          <a:xfrm>
            <a:off x="551850" y="5921400"/>
            <a:ext cx="57168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grpSp>
        <p:nvGrpSpPr>
          <p:cNvPr id="211" name="Google Shape;211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12" name="Google Shape;212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6" name="Google Shape;216;p11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1483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47200" y="3194025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1"/>
          <p:cNvSpPr/>
          <p:nvPr/>
        </p:nvSpPr>
        <p:spPr>
          <a:xfrm>
            <a:off x="6268638" y="3199200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11"/>
          <p:cNvSpPr/>
          <p:nvPr/>
        </p:nvSpPr>
        <p:spPr>
          <a:xfrm>
            <a:off x="11983225" y="3199200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0" name="Google Shape;220;p11"/>
          <p:cNvSpPr txBox="1">
            <a:spLocks noGrp="1"/>
          </p:cNvSpPr>
          <p:nvPr>
            <p:ph type="body" idx="2"/>
          </p:nvPr>
        </p:nvSpPr>
        <p:spPr>
          <a:xfrm>
            <a:off x="6268650" y="5921400"/>
            <a:ext cx="57168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21" name="Google Shape;221;p11"/>
          <p:cNvSpPr txBox="1">
            <a:spLocks noGrp="1"/>
          </p:cNvSpPr>
          <p:nvPr>
            <p:ph type="body" idx="3"/>
          </p:nvPr>
        </p:nvSpPr>
        <p:spPr>
          <a:xfrm>
            <a:off x="11985450" y="5921400"/>
            <a:ext cx="57507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8773050" y="725400"/>
            <a:ext cx="3521100" cy="445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Впишите в круг иконку или текстовое </a:t>
            </a:r>
            <a:br>
              <a:rPr lang="ru"/>
            </a:br>
            <a:r>
              <a:rPr lang="ru"/>
              <a:t>значение с размером шрифта 56pt.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2">
            <a:alphaModFix/>
          </a:blip>
          <a:srcRect l="7544"/>
          <a:stretch/>
        </p:blipFill>
        <p:spPr>
          <a:xfrm>
            <a:off x="18930390" y="1974600"/>
            <a:ext cx="264192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Большая цифра">
  <p:cSld name="CUSTOM_3_1_1_2_2_1_1_1_1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4000500" y="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12"/>
          <p:cNvSpPr txBox="1">
            <a:spLocks noGrp="1"/>
          </p:cNvSpPr>
          <p:nvPr>
            <p:ph type="subTitle" idx="1"/>
          </p:nvPr>
        </p:nvSpPr>
        <p:spPr>
          <a:xfrm>
            <a:off x="4856925" y="2217600"/>
            <a:ext cx="8574000" cy="29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3000"/>
              <a:buNone/>
              <a:defRPr sz="23000" b="1">
                <a:solidFill>
                  <a:srgbClr val="4BD0A0"/>
                </a:solidFill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-6286500" y="4770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9" name="Google Shape;229;p12"/>
          <p:cNvSpPr/>
          <p:nvPr/>
        </p:nvSpPr>
        <p:spPr>
          <a:xfrm>
            <a:off x="14287500" y="4770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4856925" y="5435575"/>
            <a:ext cx="8574000" cy="2469900"/>
          </a:xfrm>
          <a:prstGeom prst="rect">
            <a:avLst/>
          </a:prstGeom>
        </p:spPr>
        <p:txBody>
          <a:bodyPr spcFirstLastPara="1" wrap="square" lIns="0" tIns="126000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body" idx="2"/>
          </p:nvPr>
        </p:nvSpPr>
        <p:spPr>
          <a:xfrm>
            <a:off x="551850" y="9396000"/>
            <a:ext cx="7146000" cy="244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grpSp>
        <p:nvGrpSpPr>
          <p:cNvPr id="232" name="Google Shape;232;p1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33" name="Google Shape;233;p1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CUSTOM_3_1_1_2_1">
    <p:bg>
      <p:bgPr>
        <a:solidFill>
          <a:srgbClr val="4BD0A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14272675" y="723900"/>
            <a:ext cx="9563100" cy="9563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13"/>
          <p:cNvSpPr/>
          <p:nvPr/>
        </p:nvSpPr>
        <p:spPr>
          <a:xfrm>
            <a:off x="4702500" y="723900"/>
            <a:ext cx="9563100" cy="95631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41" name="Google Shape;241;p1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42" name="Google Shape;242;p1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6" name="Google Shape;246;p13"/>
          <p:cNvSpPr/>
          <p:nvPr/>
        </p:nvSpPr>
        <p:spPr>
          <a:xfrm>
            <a:off x="18773050" y="725400"/>
            <a:ext cx="4680000" cy="44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подзаголовков используйте шрифт размером 30pt. Добавьте пустую строку, для отделения заголовка от подзаголовка.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247" name="Google Shape;24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1750" y="2217591"/>
            <a:ext cx="4364628" cy="27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/>
          <p:nvPr/>
        </p:nvSpPr>
        <p:spPr>
          <a:xfrm>
            <a:off x="18773050" y="5916625"/>
            <a:ext cx="4680000" cy="298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Нижний текстовый блок используйте для написания имени, фамилии и должности.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249" name="Google Shape;24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1750" y="7164000"/>
            <a:ext cx="3167966" cy="149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Финальный слайд">
  <p:cSld name="CUSTOM_3_1_1_2_1_3">
    <p:bg>
      <p:bgPr>
        <a:solidFill>
          <a:srgbClr val="4BD0A0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4"/>
          <p:cNvGrpSpPr/>
          <p:nvPr/>
        </p:nvGrpSpPr>
        <p:grpSpPr>
          <a:xfrm>
            <a:off x="3949200" y="723900"/>
            <a:ext cx="19133275" cy="9563100"/>
            <a:chOff x="3949200" y="723900"/>
            <a:chExt cx="19133275" cy="9563100"/>
          </a:xfrm>
        </p:grpSpPr>
        <p:sp>
          <p:nvSpPr>
            <p:cNvPr id="254" name="Google Shape;254;p14"/>
            <p:cNvSpPr/>
            <p:nvPr/>
          </p:nvSpPr>
          <p:spPr>
            <a:xfrm>
              <a:off x="13519375" y="723900"/>
              <a:ext cx="9563100" cy="956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3949200" y="723900"/>
              <a:ext cx="9563100" cy="9563100"/>
            </a:xfrm>
            <a:prstGeom prst="ellipse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6" name="Google Shape;256;p14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2"/>
          </p:nvPr>
        </p:nvSpPr>
        <p:spPr>
          <a:xfrm>
            <a:off x="8454216" y="8908925"/>
            <a:ext cx="3547200" cy="732000"/>
          </a:xfrm>
          <a:prstGeom prst="rect">
            <a:avLst/>
          </a:prstGeom>
        </p:spPr>
        <p:txBody>
          <a:bodyPr spcFirstLastPara="1" wrap="square" lIns="144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subTitle" idx="3"/>
          </p:nvPr>
        </p:nvSpPr>
        <p:spPr>
          <a:xfrm>
            <a:off x="12725850" y="8908925"/>
            <a:ext cx="3547200" cy="732000"/>
          </a:xfrm>
          <a:prstGeom prst="rect">
            <a:avLst/>
          </a:prstGeom>
        </p:spPr>
        <p:txBody>
          <a:bodyPr spcFirstLastPara="1" wrap="square" lIns="144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60" name="Google Shape;260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4" name="Google Shape;264;p14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9464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11989956" y="8898074"/>
            <a:ext cx="741757" cy="741757"/>
            <a:chOff x="1190625" y="193738"/>
            <a:chExt cx="4905800" cy="4905800"/>
          </a:xfrm>
        </p:grpSpPr>
        <p:sp>
          <p:nvSpPr>
            <p:cNvPr id="266" name="Google Shape;266;p14"/>
            <p:cNvSpPr/>
            <p:nvPr/>
          </p:nvSpPr>
          <p:spPr>
            <a:xfrm>
              <a:off x="1190625" y="193738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088563" y="1629213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8" name="Google Shape;268;p14"/>
          <p:cNvGrpSpPr/>
          <p:nvPr/>
        </p:nvGrpSpPr>
        <p:grpSpPr>
          <a:xfrm>
            <a:off x="7697851" y="8899998"/>
            <a:ext cx="740589" cy="740589"/>
            <a:chOff x="1190625" y="238125"/>
            <a:chExt cx="5186200" cy="5186200"/>
          </a:xfrm>
        </p:grpSpPr>
        <p:sp>
          <p:nvSpPr>
            <p:cNvPr id="269" name="Google Shape;269;p14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2761650" y="1809150"/>
              <a:ext cx="2137575" cy="2178450"/>
            </a:xfrm>
            <a:custGeom>
              <a:avLst/>
              <a:gdLst/>
              <a:ahLst/>
              <a:cxnLst/>
              <a:rect l="l" t="t" r="r" b="b"/>
              <a:pathLst>
                <a:path w="85503" h="87138" extrusionOk="0">
                  <a:moveTo>
                    <a:pt x="50928" y="25698"/>
                  </a:moveTo>
                  <a:lnTo>
                    <a:pt x="50694" y="27567"/>
                  </a:lnTo>
                  <a:cubicBezTo>
                    <a:pt x="48125" y="25464"/>
                    <a:pt x="45088" y="24530"/>
                    <a:pt x="41350" y="24530"/>
                  </a:cubicBezTo>
                  <a:cubicBezTo>
                    <a:pt x="31772" y="24530"/>
                    <a:pt x="23362" y="32473"/>
                    <a:pt x="22194" y="42284"/>
                  </a:cubicBezTo>
                  <a:cubicBezTo>
                    <a:pt x="21026" y="52330"/>
                    <a:pt x="27333" y="61207"/>
                    <a:pt x="38079" y="61207"/>
                  </a:cubicBezTo>
                  <a:cubicBezTo>
                    <a:pt x="42752" y="61207"/>
                    <a:pt x="47190" y="59104"/>
                    <a:pt x="50227" y="56535"/>
                  </a:cubicBezTo>
                  <a:cubicBezTo>
                    <a:pt x="52330" y="60039"/>
                    <a:pt x="56535" y="64010"/>
                    <a:pt x="63543" y="64010"/>
                  </a:cubicBezTo>
                  <a:cubicBezTo>
                    <a:pt x="76859" y="64010"/>
                    <a:pt x="85503" y="53264"/>
                    <a:pt x="85503" y="39948"/>
                  </a:cubicBezTo>
                  <a:cubicBezTo>
                    <a:pt x="85503" y="17989"/>
                    <a:pt x="66346" y="1"/>
                    <a:pt x="43452" y="1"/>
                  </a:cubicBezTo>
                  <a:cubicBezTo>
                    <a:pt x="18690" y="1"/>
                    <a:pt x="1" y="19390"/>
                    <a:pt x="1" y="43452"/>
                  </a:cubicBezTo>
                  <a:cubicBezTo>
                    <a:pt x="1" y="67515"/>
                    <a:pt x="18690" y="86437"/>
                    <a:pt x="42752" y="86904"/>
                  </a:cubicBezTo>
                  <a:cubicBezTo>
                    <a:pt x="49293" y="87138"/>
                    <a:pt x="57703" y="85269"/>
                    <a:pt x="62375" y="82232"/>
                  </a:cubicBezTo>
                  <a:lnTo>
                    <a:pt x="63543" y="81765"/>
                  </a:lnTo>
                  <a:lnTo>
                    <a:pt x="58170" y="71019"/>
                  </a:lnTo>
                  <a:lnTo>
                    <a:pt x="57002" y="71720"/>
                  </a:lnTo>
                  <a:cubicBezTo>
                    <a:pt x="53731" y="73355"/>
                    <a:pt x="48826" y="74523"/>
                    <a:pt x="42752" y="74523"/>
                  </a:cubicBezTo>
                  <a:cubicBezTo>
                    <a:pt x="25698" y="74523"/>
                    <a:pt x="12382" y="60740"/>
                    <a:pt x="12382" y="43452"/>
                  </a:cubicBezTo>
                  <a:cubicBezTo>
                    <a:pt x="12382" y="26399"/>
                    <a:pt x="25698" y="12382"/>
                    <a:pt x="43452" y="12382"/>
                  </a:cubicBezTo>
                  <a:cubicBezTo>
                    <a:pt x="60039" y="12382"/>
                    <a:pt x="73121" y="24530"/>
                    <a:pt x="73121" y="39948"/>
                  </a:cubicBezTo>
                  <a:cubicBezTo>
                    <a:pt x="73121" y="44854"/>
                    <a:pt x="71720" y="47657"/>
                    <a:pt x="69851" y="49293"/>
                  </a:cubicBezTo>
                  <a:cubicBezTo>
                    <a:pt x="68215" y="50928"/>
                    <a:pt x="66113" y="51629"/>
                    <a:pt x="64711" y="51629"/>
                  </a:cubicBezTo>
                  <a:cubicBezTo>
                    <a:pt x="63076" y="51629"/>
                    <a:pt x="61674" y="50928"/>
                    <a:pt x="60973" y="50227"/>
                  </a:cubicBezTo>
                  <a:cubicBezTo>
                    <a:pt x="60273" y="49293"/>
                    <a:pt x="59805" y="48125"/>
                    <a:pt x="60039" y="46256"/>
                  </a:cubicBezTo>
                  <a:lnTo>
                    <a:pt x="62609" y="25698"/>
                  </a:lnTo>
                  <a:close/>
                  <a:moveTo>
                    <a:pt x="40416" y="50227"/>
                  </a:moveTo>
                  <a:cubicBezTo>
                    <a:pt x="44621" y="50227"/>
                    <a:pt x="47658" y="46957"/>
                    <a:pt x="48358" y="42752"/>
                  </a:cubicBezTo>
                  <a:cubicBezTo>
                    <a:pt x="48826" y="38780"/>
                    <a:pt x="46256" y="35510"/>
                    <a:pt x="42518" y="35510"/>
                  </a:cubicBezTo>
                  <a:cubicBezTo>
                    <a:pt x="38079" y="35510"/>
                    <a:pt x="34809" y="39014"/>
                    <a:pt x="34342" y="42985"/>
                  </a:cubicBezTo>
                  <a:lnTo>
                    <a:pt x="34342" y="42985"/>
                  </a:lnTo>
                  <a:lnTo>
                    <a:pt x="34342" y="43219"/>
                  </a:lnTo>
                  <a:cubicBezTo>
                    <a:pt x="33874" y="46957"/>
                    <a:pt x="36444" y="50227"/>
                    <a:pt x="40416" y="50227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71" name="Google Shape;271;p14"/>
          <p:cNvGrpSpPr/>
          <p:nvPr/>
        </p:nvGrpSpPr>
        <p:grpSpPr>
          <a:xfrm>
            <a:off x="17477600" y="9375471"/>
            <a:ext cx="517076" cy="530659"/>
            <a:chOff x="238125" y="2432825"/>
            <a:chExt cx="779550" cy="781875"/>
          </a:xfrm>
        </p:grpSpPr>
        <p:sp>
          <p:nvSpPr>
            <p:cNvPr id="272" name="Google Shape;272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Финальный слайд 2">
  <p:cSld name="CUSTOM_3_1_1_2_1_3_1">
    <p:bg>
      <p:bgPr>
        <a:solidFill>
          <a:srgbClr val="4BD0A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5"/>
          <p:cNvGrpSpPr/>
          <p:nvPr/>
        </p:nvGrpSpPr>
        <p:grpSpPr>
          <a:xfrm>
            <a:off x="3949200" y="723900"/>
            <a:ext cx="19133275" cy="9563100"/>
            <a:chOff x="3949200" y="723900"/>
            <a:chExt cx="19133275" cy="9563100"/>
          </a:xfrm>
        </p:grpSpPr>
        <p:sp>
          <p:nvSpPr>
            <p:cNvPr id="278" name="Google Shape;278;p15"/>
            <p:cNvSpPr/>
            <p:nvPr/>
          </p:nvSpPr>
          <p:spPr>
            <a:xfrm>
              <a:off x="13519375" y="723900"/>
              <a:ext cx="9563100" cy="956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949200" y="723900"/>
              <a:ext cx="9563100" cy="9563100"/>
            </a:xfrm>
            <a:prstGeom prst="ellipse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0" name="Google Shape;280;p15"/>
          <p:cNvSpPr txBox="1">
            <a:spLocks noGrp="1"/>
          </p:cNvSpPr>
          <p:nvPr>
            <p:ph type="subTitle" idx="1"/>
          </p:nvPr>
        </p:nvSpPr>
        <p:spPr>
          <a:xfrm>
            <a:off x="1299900" y="5928725"/>
            <a:ext cx="3557100" cy="732000"/>
          </a:xfrm>
          <a:prstGeom prst="rect">
            <a:avLst/>
          </a:prstGeom>
        </p:spPr>
        <p:txBody>
          <a:bodyPr spcFirstLastPara="1" wrap="square" lIns="180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81" name="Google Shape;281;p1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82" name="Google Shape;282;p1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6" name="Google Shape;286;p15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9464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87" name="Google Shape;287;p15"/>
          <p:cNvGrpSpPr/>
          <p:nvPr/>
        </p:nvGrpSpPr>
        <p:grpSpPr>
          <a:xfrm>
            <a:off x="17477600" y="9375471"/>
            <a:ext cx="517076" cy="530659"/>
            <a:chOff x="238125" y="2432825"/>
            <a:chExt cx="779550" cy="781875"/>
          </a:xfrm>
        </p:grpSpPr>
        <p:sp>
          <p:nvSpPr>
            <p:cNvPr id="288" name="Google Shape;288;p1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2" name="Google Shape;292;p15"/>
          <p:cNvGrpSpPr/>
          <p:nvPr/>
        </p:nvGrpSpPr>
        <p:grpSpPr>
          <a:xfrm>
            <a:off x="551795" y="6913222"/>
            <a:ext cx="748625" cy="748625"/>
            <a:chOff x="1190625" y="193738"/>
            <a:chExt cx="4905800" cy="4905800"/>
          </a:xfrm>
        </p:grpSpPr>
        <p:sp>
          <p:nvSpPr>
            <p:cNvPr id="293" name="Google Shape;293;p15"/>
            <p:cNvSpPr/>
            <p:nvPr/>
          </p:nvSpPr>
          <p:spPr>
            <a:xfrm>
              <a:off x="1190625" y="193738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088563" y="1629213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95" name="Google Shape;295;p15"/>
          <p:cNvGrpSpPr/>
          <p:nvPr/>
        </p:nvGrpSpPr>
        <p:grpSpPr>
          <a:xfrm>
            <a:off x="551117" y="5925589"/>
            <a:ext cx="748772" cy="748772"/>
            <a:chOff x="7019517" y="8956750"/>
            <a:chExt cx="684060" cy="684060"/>
          </a:xfrm>
        </p:grpSpPr>
        <p:sp>
          <p:nvSpPr>
            <p:cNvPr id="296" name="Google Shape;296;p15"/>
            <p:cNvSpPr/>
            <p:nvPr/>
          </p:nvSpPr>
          <p:spPr>
            <a:xfrm>
              <a:off x="7019517" y="8956750"/>
              <a:ext cx="684060" cy="68406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7226735" y="9163968"/>
              <a:ext cx="281946" cy="287338"/>
            </a:xfrm>
            <a:custGeom>
              <a:avLst/>
              <a:gdLst/>
              <a:ahLst/>
              <a:cxnLst/>
              <a:rect l="l" t="t" r="r" b="b"/>
              <a:pathLst>
                <a:path w="85503" h="87138" extrusionOk="0">
                  <a:moveTo>
                    <a:pt x="50928" y="25698"/>
                  </a:moveTo>
                  <a:lnTo>
                    <a:pt x="50694" y="27567"/>
                  </a:lnTo>
                  <a:cubicBezTo>
                    <a:pt x="48125" y="25464"/>
                    <a:pt x="45088" y="24530"/>
                    <a:pt x="41350" y="24530"/>
                  </a:cubicBezTo>
                  <a:cubicBezTo>
                    <a:pt x="31772" y="24530"/>
                    <a:pt x="23362" y="32473"/>
                    <a:pt x="22194" y="42284"/>
                  </a:cubicBezTo>
                  <a:cubicBezTo>
                    <a:pt x="21026" y="52330"/>
                    <a:pt x="27333" y="61207"/>
                    <a:pt x="38079" y="61207"/>
                  </a:cubicBezTo>
                  <a:cubicBezTo>
                    <a:pt x="42752" y="61207"/>
                    <a:pt x="47190" y="59104"/>
                    <a:pt x="50227" y="56535"/>
                  </a:cubicBezTo>
                  <a:cubicBezTo>
                    <a:pt x="52330" y="60039"/>
                    <a:pt x="56535" y="64010"/>
                    <a:pt x="63543" y="64010"/>
                  </a:cubicBezTo>
                  <a:cubicBezTo>
                    <a:pt x="76859" y="64010"/>
                    <a:pt x="85503" y="53264"/>
                    <a:pt x="85503" y="39948"/>
                  </a:cubicBezTo>
                  <a:cubicBezTo>
                    <a:pt x="85503" y="17989"/>
                    <a:pt x="66346" y="1"/>
                    <a:pt x="43452" y="1"/>
                  </a:cubicBezTo>
                  <a:cubicBezTo>
                    <a:pt x="18690" y="1"/>
                    <a:pt x="1" y="19390"/>
                    <a:pt x="1" y="43452"/>
                  </a:cubicBezTo>
                  <a:cubicBezTo>
                    <a:pt x="1" y="67515"/>
                    <a:pt x="18690" y="86437"/>
                    <a:pt x="42752" y="86904"/>
                  </a:cubicBezTo>
                  <a:cubicBezTo>
                    <a:pt x="49293" y="87138"/>
                    <a:pt x="57703" y="85269"/>
                    <a:pt x="62375" y="82232"/>
                  </a:cubicBezTo>
                  <a:lnTo>
                    <a:pt x="63543" y="81765"/>
                  </a:lnTo>
                  <a:lnTo>
                    <a:pt x="58170" y="71019"/>
                  </a:lnTo>
                  <a:lnTo>
                    <a:pt x="57002" y="71720"/>
                  </a:lnTo>
                  <a:cubicBezTo>
                    <a:pt x="53731" y="73355"/>
                    <a:pt x="48826" y="74523"/>
                    <a:pt x="42752" y="74523"/>
                  </a:cubicBezTo>
                  <a:cubicBezTo>
                    <a:pt x="25698" y="74523"/>
                    <a:pt x="12382" y="60740"/>
                    <a:pt x="12382" y="43452"/>
                  </a:cubicBezTo>
                  <a:cubicBezTo>
                    <a:pt x="12382" y="26399"/>
                    <a:pt x="25698" y="12382"/>
                    <a:pt x="43452" y="12382"/>
                  </a:cubicBezTo>
                  <a:cubicBezTo>
                    <a:pt x="60039" y="12382"/>
                    <a:pt x="73121" y="24530"/>
                    <a:pt x="73121" y="39948"/>
                  </a:cubicBezTo>
                  <a:cubicBezTo>
                    <a:pt x="73121" y="44854"/>
                    <a:pt x="71720" y="47657"/>
                    <a:pt x="69851" y="49293"/>
                  </a:cubicBezTo>
                  <a:cubicBezTo>
                    <a:pt x="68215" y="50928"/>
                    <a:pt x="66113" y="51629"/>
                    <a:pt x="64711" y="51629"/>
                  </a:cubicBezTo>
                  <a:cubicBezTo>
                    <a:pt x="63076" y="51629"/>
                    <a:pt x="61674" y="50928"/>
                    <a:pt x="60973" y="50227"/>
                  </a:cubicBezTo>
                  <a:cubicBezTo>
                    <a:pt x="60273" y="49293"/>
                    <a:pt x="59805" y="48125"/>
                    <a:pt x="60039" y="46256"/>
                  </a:cubicBezTo>
                  <a:lnTo>
                    <a:pt x="62609" y="25698"/>
                  </a:lnTo>
                  <a:close/>
                  <a:moveTo>
                    <a:pt x="40416" y="50227"/>
                  </a:moveTo>
                  <a:cubicBezTo>
                    <a:pt x="44621" y="50227"/>
                    <a:pt x="47658" y="46957"/>
                    <a:pt x="48358" y="42752"/>
                  </a:cubicBezTo>
                  <a:cubicBezTo>
                    <a:pt x="48826" y="38780"/>
                    <a:pt x="46256" y="35510"/>
                    <a:pt x="42518" y="35510"/>
                  </a:cubicBezTo>
                  <a:cubicBezTo>
                    <a:pt x="38079" y="35510"/>
                    <a:pt x="34809" y="39014"/>
                    <a:pt x="34342" y="42985"/>
                  </a:cubicBezTo>
                  <a:lnTo>
                    <a:pt x="34342" y="42985"/>
                  </a:lnTo>
                  <a:lnTo>
                    <a:pt x="34342" y="43219"/>
                  </a:lnTo>
                  <a:cubicBezTo>
                    <a:pt x="33874" y="46957"/>
                    <a:pt x="36444" y="50227"/>
                    <a:pt x="40416" y="502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FFFF"/>
                </a:solidFill>
              </a:endParaRPr>
            </a:p>
          </p:txBody>
        </p:sp>
      </p:grpSp>
      <p:sp>
        <p:nvSpPr>
          <p:cNvPr id="298" name="Google Shape;298;p15"/>
          <p:cNvSpPr txBox="1">
            <a:spLocks noGrp="1"/>
          </p:cNvSpPr>
          <p:nvPr>
            <p:ph type="subTitle" idx="2"/>
          </p:nvPr>
        </p:nvSpPr>
        <p:spPr>
          <a:xfrm>
            <a:off x="1299750" y="6919200"/>
            <a:ext cx="3557100" cy="732000"/>
          </a:xfrm>
          <a:prstGeom prst="rect">
            <a:avLst/>
          </a:prstGeom>
        </p:spPr>
        <p:txBody>
          <a:bodyPr spcFirstLastPara="1" wrap="square" lIns="180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3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">
  <p:cSld name="CUSTOM_3_1_1_2_1_2">
    <p:bg>
      <p:bgPr>
        <a:solidFill>
          <a:srgbClr val="4BD0A0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02" name="Google Shape;302;p1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06" name="Google Shape;306;p16"/>
          <p:cNvSpPr/>
          <p:nvPr/>
        </p:nvSpPr>
        <p:spPr>
          <a:xfrm>
            <a:off x="10346800" y="-6938"/>
            <a:ext cx="7941300" cy="788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16"/>
          <p:cNvSpPr/>
          <p:nvPr/>
        </p:nvSpPr>
        <p:spPr>
          <a:xfrm>
            <a:off x="8673450" y="6519300"/>
            <a:ext cx="3765600" cy="37662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8" name="Google Shape;308;p16"/>
          <p:cNvSpPr txBox="1">
            <a:spLocks noGrp="1"/>
          </p:cNvSpPr>
          <p:nvPr>
            <p:ph type="subTitle" idx="1"/>
          </p:nvPr>
        </p:nvSpPr>
        <p:spPr>
          <a:xfrm>
            <a:off x="9144000" y="7644600"/>
            <a:ext cx="2841600" cy="149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Proxima Nova Semibold"/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9" name="Google Shape;309;p16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2">
  <p:cSld name="CUSTOM_3_1_1_2_1_2_1">
    <p:bg>
      <p:bgPr>
        <a:solidFill>
          <a:srgbClr val="4BD0A0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13360413" y="3981995"/>
            <a:ext cx="5654700" cy="5654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17"/>
          <p:cNvSpPr/>
          <p:nvPr/>
        </p:nvSpPr>
        <p:spPr>
          <a:xfrm>
            <a:off x="7704086" y="3960625"/>
            <a:ext cx="5654700" cy="5654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1"/>
          </p:nvPr>
        </p:nvSpPr>
        <p:spPr>
          <a:xfrm>
            <a:off x="7704075" y="5436000"/>
            <a:ext cx="5710500" cy="2721600"/>
          </a:xfrm>
          <a:prstGeom prst="rect">
            <a:avLst/>
          </a:prstGeom>
        </p:spPr>
        <p:txBody>
          <a:bodyPr spcFirstLastPara="1" wrap="square" lIns="0" tIns="576000" rIns="91425" bIns="0" anchor="t" anchorCtr="0">
            <a:noAutofit/>
          </a:bodyPr>
          <a:lstStyle>
            <a:lvl1pPr lvl="0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roxima Nova Semibold"/>
              <a:buNone/>
              <a:defRPr sz="96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14" name="Google Shape;314;p1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15" name="Google Shape;315;p1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19" name="Google Shape;319;p17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1">
  <p:cSld name="CUSTOM_3_1_1_2_1_2_1_1">
    <p:bg>
      <p:bgPr>
        <a:solidFill>
          <a:srgbClr val="4BD0A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3" name="Google Shape;323;p18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4" name="Google Shape;324;p18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25" name="Google Shape;325;p18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26" name="Google Shape;326;p1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30" name="Google Shape;330;p18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2">
  <p:cSld name="CUSTOM_3_1_1_2_1_2_1_1_1">
    <p:bg>
      <p:bgPr>
        <a:solidFill>
          <a:srgbClr val="4BD0A0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19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19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19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36" name="Google Shape;336;p19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37" name="Google Shape;337;p1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41" name="Google Shape;341;p19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3">
  <p:cSld name="CUSTOM_3_1_1_2_1_2_1_1_1_1">
    <p:bg>
      <p:bgPr>
        <a:solidFill>
          <a:srgbClr val="4BD0A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4" name="Google Shape;344;p20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20"/>
          <p:cNvSpPr/>
          <p:nvPr/>
        </p:nvSpPr>
        <p:spPr>
          <a:xfrm>
            <a:off x="9143693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7" name="Google Shape;347;p2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48" name="Google Shape;348;p2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52" name="Google Shape;352;p20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33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4">
  <p:cSld name="CUSTOM_3_1_1_2_1_2_1_1_1_1_1">
    <p:bg>
      <p:bgPr>
        <a:solidFill>
          <a:srgbClr val="4BD0A0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p21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21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7" name="Google Shape;357;p21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58" name="Google Shape;358;p2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59" name="Google Shape;359;p2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с изображением">
  <p:cSld name="CUSTOM_3_1_1_2_1_1">
    <p:bg>
      <p:bgPr>
        <a:solidFill>
          <a:srgbClr val="4BD0A0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9144000" y="496800"/>
            <a:ext cx="8413500" cy="841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6" name="Google Shape;366;p22"/>
          <p:cNvSpPr/>
          <p:nvPr/>
        </p:nvSpPr>
        <p:spPr>
          <a:xfrm>
            <a:off x="9602760" y="1260000"/>
            <a:ext cx="8365800" cy="8365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22"/>
          <p:cNvSpPr txBox="1"/>
          <p:nvPr/>
        </p:nvSpPr>
        <p:spPr>
          <a:xfrm>
            <a:off x="10812150" y="5060725"/>
            <a:ext cx="54609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накрывать пунктирный радиус)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68" name="Google Shape;368;p2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69" name="Google Shape;369;p2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73" name="Google Shape;373;p22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00044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18773050" y="733450"/>
            <a:ext cx="4575600" cy="6927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 dirty="0"/>
          </a:p>
        </p:txBody>
      </p:sp>
      <p:pic>
        <p:nvPicPr>
          <p:cNvPr id="375" name="Google Shape;37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76" y="5191200"/>
            <a:ext cx="4104925" cy="2302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78" name="Google Shape;378;p22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1 Зелёный">
  <p:cSld name="CUSTOM_3_1_1_2_1_1_1">
    <p:bg>
      <p:bgPr>
        <a:solidFill>
          <a:srgbClr val="4BD0A0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81" name="Google Shape;381;p2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Char char="●"/>
              <a:defRPr sz="36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4"/>
          <p:cNvSpPr/>
          <p:nvPr/>
        </p:nvSpPr>
        <p:spPr>
          <a:xfrm>
            <a:off x="9143844" y="497396"/>
            <a:ext cx="8408700" cy="840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4" name="Google Shape;874;p54"/>
          <p:cNvSpPr txBox="1"/>
          <p:nvPr/>
        </p:nvSpPr>
        <p:spPr>
          <a:xfrm>
            <a:off x="418580" y="413890"/>
            <a:ext cx="8967606" cy="578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«Разработка системы генерации изображений с автоматической валидацией качества с использованием компьютерного зрения»</a:t>
            </a:r>
          </a:p>
        </p:txBody>
      </p:sp>
      <p:sp>
        <p:nvSpPr>
          <p:cNvPr id="875" name="Google Shape;875;p54"/>
          <p:cNvSpPr txBox="1"/>
          <p:nvPr/>
        </p:nvSpPr>
        <p:spPr>
          <a:xfrm>
            <a:off x="735456" y="8558532"/>
            <a:ext cx="5716800" cy="9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Proxima Nova"/>
                <a:ea typeface="Proxima Nova"/>
                <a:cs typeface="Proxima Nova"/>
                <a:sym typeface="Proxima Nova"/>
              </a:rPr>
              <a:t>Соловьева Екатерина Вадимовна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DSU-77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6E81911-7ACD-6089-97CB-F2B66077ADF3}"/>
              </a:ext>
            </a:extLst>
          </p:cNvPr>
          <p:cNvGrpSpPr/>
          <p:nvPr/>
        </p:nvGrpSpPr>
        <p:grpSpPr>
          <a:xfrm>
            <a:off x="8666329" y="1208464"/>
            <a:ext cx="7751928" cy="7350068"/>
            <a:chOff x="8924782" y="351455"/>
            <a:chExt cx="8967606" cy="8700290"/>
          </a:xfrm>
        </p:grpSpPr>
        <p:sp>
          <p:nvSpPr>
            <p:cNvPr id="8" name="Овал 7" descr="Изображение выглядит как млекопитающее, кот, домашняя кошка, Вибриссы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CEA01C1-485E-BD6B-7832-A47E6C289E87}"/>
                </a:ext>
              </a:extLst>
            </p:cNvPr>
            <p:cNvSpPr/>
            <p:nvPr/>
          </p:nvSpPr>
          <p:spPr>
            <a:xfrm>
              <a:off x="8924782" y="351455"/>
              <a:ext cx="8967606" cy="8700281"/>
            </a:xfrm>
            <a:prstGeom prst="ellipse">
              <a:avLst/>
            </a:prstGeom>
            <a:blipFill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10946421-AD67-C5EA-1F06-3F9D02E4A061}"/>
                </a:ext>
              </a:extLst>
            </p:cNvPr>
            <p:cNvSpPr/>
            <p:nvPr/>
          </p:nvSpPr>
          <p:spPr>
            <a:xfrm>
              <a:off x="8924782" y="7572091"/>
              <a:ext cx="2869633" cy="1479654"/>
            </a:xfrm>
            <a:custGeom>
              <a:avLst/>
              <a:gdLst>
                <a:gd name="connsiteX0" fmla="*/ 0 w 2869633"/>
                <a:gd name="connsiteY0" fmla="*/ 0 h 1479654"/>
                <a:gd name="connsiteX1" fmla="*/ 2869633 w 2869633"/>
                <a:gd name="connsiteY1" fmla="*/ 0 h 1479654"/>
                <a:gd name="connsiteX2" fmla="*/ 2869633 w 2869633"/>
                <a:gd name="connsiteY2" fmla="*/ 1479654 h 1479654"/>
                <a:gd name="connsiteX3" fmla="*/ 0 w 2869633"/>
                <a:gd name="connsiteY3" fmla="*/ 1479654 h 1479654"/>
                <a:gd name="connsiteX4" fmla="*/ 0 w 2869633"/>
                <a:gd name="connsiteY4" fmla="*/ 0 h 147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9633" h="1479654">
                  <a:moveTo>
                    <a:pt x="0" y="0"/>
                  </a:moveTo>
                  <a:lnTo>
                    <a:pt x="2869633" y="0"/>
                  </a:lnTo>
                  <a:lnTo>
                    <a:pt x="2869633" y="1479654"/>
                  </a:lnTo>
                  <a:lnTo>
                    <a:pt x="0" y="1479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6500" kern="1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57"/>
          <p:cNvGrpSpPr/>
          <p:nvPr/>
        </p:nvGrpSpPr>
        <p:grpSpPr>
          <a:xfrm>
            <a:off x="1063664" y="1811707"/>
            <a:ext cx="4305000" cy="1245600"/>
            <a:chOff x="551850" y="2952000"/>
            <a:chExt cx="4305000" cy="1245600"/>
          </a:xfrm>
        </p:grpSpPr>
        <p:sp>
          <p:nvSpPr>
            <p:cNvPr id="933" name="Google Shape;933;p57"/>
            <p:cNvSpPr/>
            <p:nvPr/>
          </p:nvSpPr>
          <p:spPr>
            <a:xfrm>
              <a:off x="551850" y="2952000"/>
              <a:ext cx="1245600" cy="12456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3200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dirty="0"/>
            </a:p>
          </p:txBody>
        </p:sp>
        <p:sp>
          <p:nvSpPr>
            <p:cNvPr id="934" name="Google Shape;934;p57"/>
            <p:cNvSpPr txBox="1"/>
            <p:nvPr/>
          </p:nvSpPr>
          <p:spPr>
            <a:xfrm>
              <a:off x="1981050" y="2952000"/>
              <a:ext cx="2875800" cy="12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 dirty="0">
                  <a:latin typeface="Proxima Nova"/>
                  <a:ea typeface="Proxima Nova"/>
                  <a:cs typeface="Proxima Nova"/>
                  <a:sym typeface="Proxima Nova"/>
                </a:rPr>
                <a:t>Настройка модели для генерации изображений</a:t>
              </a:r>
            </a:p>
          </p:txBody>
        </p:sp>
      </p:grpSp>
      <p:grpSp>
        <p:nvGrpSpPr>
          <p:cNvPr id="935" name="Google Shape;935;p57"/>
          <p:cNvGrpSpPr/>
          <p:nvPr/>
        </p:nvGrpSpPr>
        <p:grpSpPr>
          <a:xfrm>
            <a:off x="5533394" y="5893506"/>
            <a:ext cx="4286920" cy="1245602"/>
            <a:chOff x="4856930" y="2952298"/>
            <a:chExt cx="4286920" cy="1245602"/>
          </a:xfrm>
        </p:grpSpPr>
        <p:sp>
          <p:nvSpPr>
            <p:cNvPr id="936" name="Google Shape;936;p57"/>
            <p:cNvSpPr/>
            <p:nvPr/>
          </p:nvSpPr>
          <p:spPr>
            <a:xfrm>
              <a:off x="4856930" y="2952298"/>
              <a:ext cx="1245600" cy="12456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200" b="1" dirty="0"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dirty="0"/>
            </a:p>
          </p:txBody>
        </p:sp>
        <p:sp>
          <p:nvSpPr>
            <p:cNvPr id="937" name="Google Shape;937;p57"/>
            <p:cNvSpPr txBox="1"/>
            <p:nvPr/>
          </p:nvSpPr>
          <p:spPr>
            <a:xfrm>
              <a:off x="6268650" y="2952300"/>
              <a:ext cx="2875200" cy="12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 dirty="0">
                  <a:latin typeface="Proxima Nova"/>
                  <a:ea typeface="Proxima Nova"/>
                  <a:cs typeface="Proxima Nova"/>
                  <a:sym typeface="Proxima Nova"/>
                </a:rPr>
                <a:t>Дообучение</a:t>
              </a:r>
              <a:r>
                <a:rPr lang="en-US" sz="2400" dirty="0">
                  <a:latin typeface="Proxima Nova"/>
                  <a:ea typeface="Proxima Nova"/>
                  <a:cs typeface="Proxima Nova"/>
                  <a:sym typeface="Proxima Nova"/>
                </a:rPr>
                <a:t>LLM</a:t>
              </a:r>
              <a:r>
                <a:rPr lang="ru" sz="2400" dirty="0">
                  <a:latin typeface="Proxima Nova"/>
                  <a:ea typeface="Proxima Nova"/>
                  <a:cs typeface="Proxima Nova"/>
                  <a:sym typeface="Proxima Nova"/>
                </a:rPr>
                <a:t> методом </a:t>
              </a:r>
              <a:r>
                <a:rPr lang="en-US" sz="2400" dirty="0">
                  <a:latin typeface="Proxima Nova"/>
                  <a:ea typeface="Proxima Nova"/>
                  <a:cs typeface="Proxima Nova"/>
                  <a:sym typeface="Proxima Nova"/>
                </a:rPr>
                <a:t>LoRa</a:t>
              </a: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 для генерации промтов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938" name="Google Shape;938;p57"/>
          <p:cNvGrpSpPr/>
          <p:nvPr/>
        </p:nvGrpSpPr>
        <p:grpSpPr>
          <a:xfrm>
            <a:off x="11996719" y="2075818"/>
            <a:ext cx="4272613" cy="1245698"/>
            <a:chOff x="9143838" y="2952200"/>
            <a:chExt cx="4272613" cy="1245698"/>
          </a:xfrm>
        </p:grpSpPr>
        <p:sp>
          <p:nvSpPr>
            <p:cNvPr id="939" name="Google Shape;939;p57"/>
            <p:cNvSpPr/>
            <p:nvPr/>
          </p:nvSpPr>
          <p:spPr>
            <a:xfrm>
              <a:off x="9143838" y="2952298"/>
              <a:ext cx="1245600" cy="12456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200" b="1"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dirty="0"/>
            </a:p>
          </p:txBody>
        </p:sp>
        <p:sp>
          <p:nvSpPr>
            <p:cNvPr id="940" name="Google Shape;940;p57"/>
            <p:cNvSpPr txBox="1"/>
            <p:nvPr/>
          </p:nvSpPr>
          <p:spPr>
            <a:xfrm>
              <a:off x="10556250" y="2952200"/>
              <a:ext cx="2860200" cy="12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 dirty="0">
                  <a:latin typeface="Proxima Nova"/>
                  <a:ea typeface="Proxima Nova"/>
                  <a:cs typeface="Proxima Nova"/>
                  <a:sym typeface="Proxima Nova"/>
                </a:rPr>
                <a:t>Дообучение</a:t>
              </a:r>
              <a:r>
                <a:rPr lang="en-US" sz="2400" dirty="0">
                  <a:latin typeface="Proxima Nova"/>
                  <a:ea typeface="Proxima Nova"/>
                  <a:cs typeface="Proxima Nova"/>
                  <a:sym typeface="Proxima Nova"/>
                </a:rPr>
                <a:t> Resnet18</a:t>
              </a: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 для оценки качества генерации</a:t>
              </a:r>
            </a:p>
          </p:txBody>
        </p:sp>
      </p:grpSp>
      <p:sp>
        <p:nvSpPr>
          <p:cNvPr id="959" name="Google Shape;959;p57"/>
          <p:cNvSpPr txBox="1"/>
          <p:nvPr/>
        </p:nvSpPr>
        <p:spPr>
          <a:xfrm>
            <a:off x="6846172" y="600470"/>
            <a:ext cx="2408664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5600" b="1" dirty="0">
                <a:latin typeface="Proxima Nova"/>
                <a:ea typeface="Proxima Nova"/>
                <a:cs typeface="Proxima Nova"/>
                <a:sym typeface="Proxima Nova"/>
              </a:rPr>
              <a:t>Этапы: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" sz="5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Рисунок 2" descr="Изображение выглядит как млекопитающее, еж, Ежовые, дикобраз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185E1FD-2EED-B913-F3C8-5D13B4BAE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29" y="3419771"/>
            <a:ext cx="3136142" cy="31361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Google Shape;934;p57">
            <a:extLst>
              <a:ext uri="{FF2B5EF4-FFF2-40B4-BE49-F238E27FC236}">
                <a16:creationId xmlns:a16="http://schemas.microsoft.com/office/drawing/2014/main" id="{1A4B2BD6-45DE-3502-4855-86D74183B332}"/>
              </a:ext>
            </a:extLst>
          </p:cNvPr>
          <p:cNvSpPr txBox="1"/>
          <p:nvPr/>
        </p:nvSpPr>
        <p:spPr>
          <a:xfrm>
            <a:off x="1390257" y="6361206"/>
            <a:ext cx="2875800" cy="12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latin typeface="Proxima Nova"/>
                <a:ea typeface="Proxima Nova"/>
                <a:cs typeface="Proxima Nova"/>
                <a:sym typeface="Proxima Nova"/>
              </a:rPr>
              <a:t>Это должна была быть машина, синяя машина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61D714-A6FE-82CA-1225-A0333B802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865" y="7543570"/>
            <a:ext cx="12478730" cy="17173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Рисунок 9" descr="Изображение выглядит как текст, Шрифт, снимок экрана, чер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51ECAE-7465-B3DF-3E5E-A84470FFF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1692" y="3926586"/>
            <a:ext cx="7356721" cy="16606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Google Shape;934;p57">
            <a:extLst>
              <a:ext uri="{FF2B5EF4-FFF2-40B4-BE49-F238E27FC236}">
                <a16:creationId xmlns:a16="http://schemas.microsoft.com/office/drawing/2014/main" id="{4AB51312-8020-3220-DC03-9A1CE82737D3}"/>
              </a:ext>
            </a:extLst>
          </p:cNvPr>
          <p:cNvSpPr txBox="1"/>
          <p:nvPr/>
        </p:nvSpPr>
        <p:spPr>
          <a:xfrm>
            <a:off x="3930764" y="9117607"/>
            <a:ext cx="9471337" cy="12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Proxima Nova"/>
                <a:ea typeface="Proxima Nova"/>
                <a:cs typeface="Proxima Nova"/>
                <a:sym typeface="Proxima Nova"/>
              </a:rPr>
              <a:t>Тут спустя часы работы я поняла, что модель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Falcon 7B</a:t>
            </a:r>
            <a:r>
              <a:rPr lang="ru-RU" sz="2000" dirty="0">
                <a:latin typeface="Proxima Nova"/>
                <a:ea typeface="Proxima Nova"/>
                <a:cs typeface="Proxima Nova"/>
                <a:sym typeface="Proxima Nova"/>
              </a:rPr>
              <a:t> слишком большая</a:t>
            </a:r>
            <a:endParaRPr lang="ru"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934;p57">
            <a:extLst>
              <a:ext uri="{FF2B5EF4-FFF2-40B4-BE49-F238E27FC236}">
                <a16:creationId xmlns:a16="http://schemas.microsoft.com/office/drawing/2014/main" id="{379CE5AA-37FB-8604-25B0-F2D401EF6ACC}"/>
              </a:ext>
            </a:extLst>
          </p:cNvPr>
          <p:cNvSpPr txBox="1"/>
          <p:nvPr/>
        </p:nvSpPr>
        <p:spPr>
          <a:xfrm>
            <a:off x="10719024" y="5515552"/>
            <a:ext cx="6582056" cy="12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Proxima Nova"/>
                <a:ea typeface="Proxima Nova"/>
                <a:cs typeface="Proxima Nova"/>
                <a:sym typeface="Proxima Nova"/>
              </a:rPr>
              <a:t>А тут датасет с картинками оказался нерепрезентативным</a:t>
            </a:r>
            <a:endParaRPr lang="ru"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" name="Google Shape;2253;p114"/>
          <p:cNvGraphicFramePr/>
          <p:nvPr>
            <p:extLst>
              <p:ext uri="{D42A27DB-BD31-4B8C-83A1-F6EECF244321}">
                <p14:modId xmlns:p14="http://schemas.microsoft.com/office/powerpoint/2010/main" val="692419350"/>
              </p:ext>
            </p:extLst>
          </p:nvPr>
        </p:nvGraphicFramePr>
        <p:xfrm>
          <a:off x="2080400" y="3841459"/>
          <a:ext cx="12645535" cy="4960181"/>
        </p:xfrm>
        <a:graphic>
          <a:graphicData uri="http://schemas.openxmlformats.org/drawingml/2006/table">
            <a:tbl>
              <a:tblPr>
                <a:noFill/>
                <a:tableStyleId>{F12479AA-1188-46D5-84F2-6A872CF9E262}</a:tableStyleId>
              </a:tblPr>
              <a:tblGrid>
                <a:gridCol w="1202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9249">
                  <a:extLst>
                    <a:ext uri="{9D8B030D-6E8A-4147-A177-3AD203B41FA5}">
                      <a16:colId xmlns:a16="http://schemas.microsoft.com/office/drawing/2014/main" val="3830987477"/>
                    </a:ext>
                  </a:extLst>
                </a:gridCol>
                <a:gridCol w="389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19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55F6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 dirty="0">
                        <a:solidFill>
                          <a:srgbClr val="4BD0A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0" marB="0">
                    <a:lnL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55F6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b="1" u="none" strike="noStrike" cap="none" dirty="0">
                          <a:solidFill>
                            <a:srgbClr val="4BD0A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Для </a:t>
                      </a:r>
                      <a:r>
                        <a:rPr lang="en-US" sz="1800" b="1" u="none" strike="noStrike" cap="none" dirty="0">
                          <a:solidFill>
                            <a:srgbClr val="4BD0A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CV</a:t>
                      </a:r>
                      <a:endParaRPr sz="1800" b="1" u="none" strike="noStrike" cap="none" dirty="0">
                        <a:solidFill>
                          <a:srgbClr val="4BD0A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55F6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dirty="0">
                          <a:solidFill>
                            <a:srgbClr val="4BD0A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Для </a:t>
                      </a:r>
                      <a:r>
                        <a:rPr lang="en-US" sz="1800" b="1" dirty="0">
                          <a:solidFill>
                            <a:srgbClr val="4BD0A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LLM</a:t>
                      </a:r>
                      <a:endParaRPr sz="1800" b="1" dirty="0">
                        <a:solidFill>
                          <a:srgbClr val="4BD0A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0" marR="108000" marT="0" marB="0">
                    <a:lnL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55F6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dirty="0">
                          <a:solidFill>
                            <a:srgbClr val="4BD0A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Для теста</a:t>
                      </a:r>
                      <a:endParaRPr sz="1800" b="1" dirty="0">
                        <a:solidFill>
                          <a:srgbClr val="4BD0A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marR="0" lvl="0" indent="0" algn="ctr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55F6"/>
                        </a:buClr>
                        <a:buSzPts val="1800"/>
                        <a:buFont typeface="Arial"/>
                        <a:buNone/>
                      </a:pPr>
                      <a:endParaRPr sz="1800" b="1" dirty="0">
                        <a:solidFill>
                          <a:srgbClr val="4BD0A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0" marR="108000" marT="0" marB="0">
                    <a:lnL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36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Proxima Nova" panose="020B0604020202020204" charset="0"/>
                        </a:rPr>
                        <a:t>Kaggle Natural Images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Proxima Nova" panose="020B0604020202020204" charset="0"/>
                        </a:rPr>
                        <a:t>Генерация (</a:t>
                      </a:r>
                      <a:r>
                        <a:rPr lang="en-US" sz="1800" b="1" dirty="0" err="1">
                          <a:effectLst/>
                          <a:latin typeface="Proxima Nova" panose="020B0604020202020204" charset="0"/>
                        </a:rPr>
                        <a:t>DeepSeek</a:t>
                      </a:r>
                      <a:r>
                        <a:rPr lang="en-US" sz="1800" b="1" dirty="0">
                          <a:effectLst/>
                          <a:latin typeface="Proxima Nova" panose="020B0604020202020204" charset="0"/>
                        </a:rPr>
                        <a:t>)</a:t>
                      </a:r>
                      <a:endParaRPr lang="ru-RU" sz="1800" b="1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Proxima Nova" panose="020B0604020202020204" charset="0"/>
                        </a:rPr>
                        <a:t>200 русских промптов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8 классов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1600 пар</a:t>
                      </a: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10 классов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6899 фото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Proxima Nova" panose="020B0604020202020204" charset="0"/>
                        </a:rPr>
                        <a:t>prompt → prompt</a:t>
                      </a: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Ожидаемая метка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✅ Реальные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✅ Сбалансировано</a:t>
                      </a: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✅ Валидация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Proxima Nova" panose="020B0604020202020204" charset="0"/>
                        </a:rPr>
                        <a:t>Kaggle Natural Images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Ручная разметка</a:t>
                      </a: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200 русских промптов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8 классов</a:t>
                      </a:r>
                    </a:p>
                  </a:txBody>
                  <a:tcPr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1600 пар</a:t>
                      </a:r>
                    </a:p>
                  </a:txBody>
                  <a:tcPr marL="152400" marR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10 классов</a:t>
                      </a:r>
                    </a:p>
                  </a:txBody>
                  <a:tcPr marL="152400" marT="95250" marB="9525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Proxima Nova" panose="020B0604020202020204" charset="0"/>
                        </a:rPr>
                        <a:t>Pascal-voc-2007</a:t>
                      </a:r>
                      <a:endParaRPr lang="ru-RU" sz="1800" b="1" dirty="0">
                        <a:effectLst/>
                        <a:latin typeface="Proxima Nova" panose="020B0604020202020204" charset="0"/>
                      </a:endParaRPr>
                    </a:p>
                  </a:txBody>
                  <a:tcPr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917722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Класс </a:t>
                      </a:r>
                      <a:r>
                        <a:rPr lang="en-US" sz="1800" b="0" dirty="0">
                          <a:effectLst/>
                          <a:latin typeface="Proxima Nova" panose="020B0604020202020204" charset="0"/>
                        </a:rPr>
                        <a:t>other (</a:t>
                      </a:r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сбалансирован с целевыми)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84849"/>
                  </a:ext>
                </a:extLst>
              </a:tr>
              <a:tr h="4631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131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08000" marR="0" marT="72000" marB="0" anchor="ctr">
                    <a:lnL w="28575" cap="flat" cmpd="sng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0" dirty="0">
                          <a:effectLst/>
                          <a:latin typeface="Proxima Nova" panose="020B0604020202020204" charset="0"/>
                        </a:rPr>
                        <a:t>✅ Реальные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effectLst/>
                        <a:latin typeface="Proxima Nova" panose="020B0604020202020204" charset="0"/>
                      </a:endParaRPr>
                    </a:p>
                  </a:txBody>
                  <a:tcPr marL="152400" marT="95250" marB="95250" anchor="ctr">
                    <a:lnL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DDDDD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3F4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017816"/>
                  </a:ext>
                </a:extLst>
              </a:tr>
            </a:tbl>
          </a:graphicData>
        </a:graphic>
      </p:graphicFrame>
      <p:sp>
        <p:nvSpPr>
          <p:cNvPr id="2254" name="Google Shape;2254;p114"/>
          <p:cNvSpPr txBox="1"/>
          <p:nvPr/>
        </p:nvSpPr>
        <p:spPr>
          <a:xfrm>
            <a:off x="6720639" y="2811410"/>
            <a:ext cx="5716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5F6"/>
              </a:buClr>
              <a:buSzPts val="2800"/>
              <a:buFont typeface="Arial"/>
              <a:buNone/>
            </a:pPr>
            <a:r>
              <a:rPr lang="ru-RU" sz="24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Три источника данных</a:t>
            </a:r>
          </a:p>
        </p:txBody>
      </p:sp>
      <p:sp>
        <p:nvSpPr>
          <p:cNvPr id="2257" name="Google Shape;2257;p114"/>
          <p:cNvSpPr txBox="1"/>
          <p:nvPr/>
        </p:nvSpPr>
        <p:spPr>
          <a:xfrm>
            <a:off x="1084112" y="1084610"/>
            <a:ext cx="14309100" cy="17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>
                <a:latin typeface="Proxima Nova"/>
                <a:ea typeface="Proxima Nova"/>
                <a:cs typeface="Proxima Nova"/>
                <a:sym typeface="Proxima Nova"/>
              </a:rPr>
              <a:t>Откуда взяли данные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4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4" name="Google Shape;1054;p64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5" name="Google Shape;1055;p64"/>
          <p:cNvSpPr/>
          <p:nvPr/>
        </p:nvSpPr>
        <p:spPr>
          <a:xfrm>
            <a:off x="4572000" y="506911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6" name="Google Shape;1056;p64"/>
          <p:cNvSpPr txBox="1"/>
          <p:nvPr/>
        </p:nvSpPr>
        <p:spPr>
          <a:xfrm>
            <a:off x="551850" y="489600"/>
            <a:ext cx="12700126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Настройка модели для генерации изображений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55"/>
          <p:cNvGrpSpPr/>
          <p:nvPr/>
        </p:nvGrpSpPr>
        <p:grpSpPr>
          <a:xfrm>
            <a:off x="551843" y="2738575"/>
            <a:ext cx="10898472" cy="536239"/>
            <a:chOff x="552000" y="2464138"/>
            <a:chExt cx="10898472" cy="536239"/>
          </a:xfrm>
        </p:grpSpPr>
        <p:sp>
          <p:nvSpPr>
            <p:cNvPr id="881" name="Google Shape;881;p55"/>
            <p:cNvSpPr txBox="1"/>
            <p:nvPr/>
          </p:nvSpPr>
          <p:spPr>
            <a:xfrm>
              <a:off x="1981050" y="2510777"/>
              <a:ext cx="9469422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SD 1.5 работает на 12GB VRAM (мой GPU), а SDXL требует 16–20GB</a:t>
              </a:r>
            </a:p>
          </p:txBody>
        </p:sp>
        <p:sp>
          <p:nvSpPr>
            <p:cNvPr id="882" name="Google Shape;882;p55"/>
            <p:cNvSpPr/>
            <p:nvPr/>
          </p:nvSpPr>
          <p:spPr>
            <a:xfrm>
              <a:off x="552000" y="2464138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dirty="0"/>
            </a:p>
          </p:txBody>
        </p:sp>
      </p:grpSp>
      <p:grpSp>
        <p:nvGrpSpPr>
          <p:cNvPr id="883" name="Google Shape;883;p55"/>
          <p:cNvGrpSpPr/>
          <p:nvPr/>
        </p:nvGrpSpPr>
        <p:grpSpPr>
          <a:xfrm>
            <a:off x="551843" y="3448800"/>
            <a:ext cx="10004407" cy="500400"/>
            <a:chOff x="551843" y="3448800"/>
            <a:chExt cx="10004407" cy="500400"/>
          </a:xfrm>
        </p:grpSpPr>
        <p:sp>
          <p:nvSpPr>
            <p:cNvPr id="884" name="Google Shape;884;p55"/>
            <p:cNvSpPr txBox="1"/>
            <p:nvPr/>
          </p:nvSpPr>
          <p:spPr>
            <a:xfrm>
              <a:off x="1981050" y="3448800"/>
              <a:ext cx="8575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Достаточно качества для 8 простых классов</a:t>
              </a:r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551843" y="34596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dirty="0"/>
            </a:p>
          </p:txBody>
        </p:sp>
      </p:grpSp>
      <p:grpSp>
        <p:nvGrpSpPr>
          <p:cNvPr id="886" name="Google Shape;886;p55"/>
          <p:cNvGrpSpPr/>
          <p:nvPr/>
        </p:nvGrpSpPr>
        <p:grpSpPr>
          <a:xfrm>
            <a:off x="551993" y="4182536"/>
            <a:ext cx="10004257" cy="504000"/>
            <a:chOff x="551993" y="4442400"/>
            <a:chExt cx="10004257" cy="504000"/>
          </a:xfrm>
        </p:grpSpPr>
        <p:sp>
          <p:nvSpPr>
            <p:cNvPr id="887" name="Google Shape;887;p55"/>
            <p:cNvSpPr txBox="1"/>
            <p:nvPr/>
          </p:nvSpPr>
          <p:spPr>
            <a:xfrm>
              <a:off x="1981050" y="4442400"/>
              <a:ext cx="85752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latin typeface="Proxima Nova"/>
                  <a:ea typeface="Proxima Nova"/>
                  <a:cs typeface="Proxima Nova"/>
                  <a:sym typeface="Proxima Nova"/>
                </a:rPr>
                <a:t>Open-source</a:t>
              </a: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 модель с большим сообществом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88" name="Google Shape;888;p55"/>
            <p:cNvSpPr/>
            <p:nvPr/>
          </p:nvSpPr>
          <p:spPr>
            <a:xfrm>
              <a:off x="551993" y="44514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dirty="0"/>
            </a:p>
          </p:txBody>
        </p:sp>
      </p:grpSp>
      <p:sp>
        <p:nvSpPr>
          <p:cNvPr id="901" name="Google Shape;901;p55"/>
          <p:cNvSpPr txBox="1"/>
          <p:nvPr/>
        </p:nvSpPr>
        <p:spPr>
          <a:xfrm>
            <a:off x="551843" y="771816"/>
            <a:ext cx="8455679" cy="120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200" b="1" dirty="0">
                <a:latin typeface="Proxima Nova"/>
                <a:ea typeface="Proxima Nova"/>
                <a:cs typeface="Proxima Nova"/>
                <a:sym typeface="Proxima Nova"/>
              </a:rPr>
              <a:t>Почему </a:t>
            </a:r>
            <a:r>
              <a:rPr lang="en-US" sz="5200" b="1" dirty="0">
                <a:latin typeface="Proxima Nova"/>
                <a:ea typeface="Proxima Nova"/>
                <a:cs typeface="Proxima Nova"/>
                <a:sym typeface="Proxima Nova"/>
              </a:rPr>
              <a:t>Stable Diffusion 1.5 </a:t>
            </a:r>
            <a:r>
              <a:rPr lang="ru-RU" sz="5200" b="1" dirty="0">
                <a:latin typeface="Proxima Nova"/>
                <a:ea typeface="Proxima Nova"/>
                <a:cs typeface="Proxima Nova"/>
                <a:sym typeface="Proxima Nova"/>
              </a:rPr>
              <a:t>и </a:t>
            </a:r>
            <a:r>
              <a:rPr lang="en-US" sz="5200" b="1" dirty="0">
                <a:latin typeface="Proxima Nova"/>
                <a:ea typeface="Proxima Nova"/>
                <a:cs typeface="Proxima Nova"/>
                <a:sym typeface="Proxima Nova"/>
              </a:rPr>
              <a:t>Dreamlike Photoreal 2.0</a:t>
            </a:r>
            <a:endParaRPr lang="ru-RU" sz="52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D6607E-A40E-CA6F-D3F1-25BB59A0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7983" y="842283"/>
            <a:ext cx="4473689" cy="44736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45E448-CDA8-CDCF-7098-6A710C6ED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2956" y="4882727"/>
            <a:ext cx="3653051" cy="365305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ранспортное средство, Наземный транспорт, мотоцикл, ш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E6CFBB5-4175-5B53-4731-CCB1DFA07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9504" y="5315972"/>
            <a:ext cx="4280845" cy="4280845"/>
          </a:xfrm>
          <a:prstGeom prst="rect">
            <a:avLst/>
          </a:prstGeom>
        </p:spPr>
      </p:pic>
      <p:sp>
        <p:nvSpPr>
          <p:cNvPr id="3" name="Google Shape;881;p55">
            <a:extLst>
              <a:ext uri="{FF2B5EF4-FFF2-40B4-BE49-F238E27FC236}">
                <a16:creationId xmlns:a16="http://schemas.microsoft.com/office/drawing/2014/main" id="{55E8E176-76A4-D0A3-A9D4-89A6CD356A6D}"/>
              </a:ext>
            </a:extLst>
          </p:cNvPr>
          <p:cNvSpPr txBox="1"/>
          <p:nvPr/>
        </p:nvSpPr>
        <p:spPr>
          <a:xfrm>
            <a:off x="3922710" y="2155778"/>
            <a:ext cx="400664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Proxima Nova"/>
                <a:ea typeface="Proxima Nova"/>
                <a:cs typeface="Proxima Nova"/>
                <a:sym typeface="Proxima Nova"/>
              </a:rPr>
              <a:t>Базовый выбор — </a:t>
            </a:r>
            <a:r>
              <a:rPr lang="en-US" sz="2400" b="1" dirty="0">
                <a:latin typeface="Proxima Nova"/>
                <a:ea typeface="Proxima Nova"/>
                <a:cs typeface="Proxima Nova"/>
                <a:sym typeface="Proxima Nova"/>
              </a:rPr>
              <a:t>SD 1.5</a:t>
            </a:r>
            <a:endParaRPr lang="ru-RU" sz="24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Google Shape;881;p55">
            <a:extLst>
              <a:ext uri="{FF2B5EF4-FFF2-40B4-BE49-F238E27FC236}">
                <a16:creationId xmlns:a16="http://schemas.microsoft.com/office/drawing/2014/main" id="{8C5B8652-7B3B-812E-772E-5FA64DDF120D}"/>
              </a:ext>
            </a:extLst>
          </p:cNvPr>
          <p:cNvSpPr txBox="1"/>
          <p:nvPr/>
        </p:nvSpPr>
        <p:spPr>
          <a:xfrm>
            <a:off x="1228300" y="4983711"/>
            <a:ext cx="8851204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Proxima Nova"/>
                <a:ea typeface="Proxima Nova"/>
                <a:cs typeface="Proxima Nova"/>
                <a:sym typeface="Proxima Nova"/>
              </a:rPr>
              <a:t>Экспериментальное улучшение — Dreamlike Photoreal 2.0:</a:t>
            </a:r>
          </a:p>
        </p:txBody>
      </p:sp>
      <p:grpSp>
        <p:nvGrpSpPr>
          <p:cNvPr id="8" name="Google Shape;880;p55">
            <a:extLst>
              <a:ext uri="{FF2B5EF4-FFF2-40B4-BE49-F238E27FC236}">
                <a16:creationId xmlns:a16="http://schemas.microsoft.com/office/drawing/2014/main" id="{91643761-3907-8D85-4365-CB37C72D34E3}"/>
              </a:ext>
            </a:extLst>
          </p:cNvPr>
          <p:cNvGrpSpPr/>
          <p:nvPr/>
        </p:nvGrpSpPr>
        <p:grpSpPr>
          <a:xfrm>
            <a:off x="551414" y="5596975"/>
            <a:ext cx="9110773" cy="536239"/>
            <a:chOff x="551999" y="2464138"/>
            <a:chExt cx="10898473" cy="536239"/>
          </a:xfrm>
        </p:grpSpPr>
        <p:sp>
          <p:nvSpPr>
            <p:cNvPr id="10" name="Google Shape;881;p55">
              <a:extLst>
                <a:ext uri="{FF2B5EF4-FFF2-40B4-BE49-F238E27FC236}">
                  <a16:creationId xmlns:a16="http://schemas.microsoft.com/office/drawing/2014/main" id="{A27B74CB-2972-F2B6-4B92-AAAF310FEC0B}"/>
                </a:ext>
              </a:extLst>
            </p:cNvPr>
            <p:cNvSpPr txBox="1"/>
            <p:nvPr/>
          </p:nvSpPr>
          <p:spPr>
            <a:xfrm>
              <a:off x="1981050" y="2510777"/>
              <a:ext cx="9469422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Fine-tuned версия SD 1.5 под фотореализм</a:t>
              </a:r>
            </a:p>
          </p:txBody>
        </p:sp>
        <p:sp>
          <p:nvSpPr>
            <p:cNvPr id="11" name="Google Shape;882;p55">
              <a:extLst>
                <a:ext uri="{FF2B5EF4-FFF2-40B4-BE49-F238E27FC236}">
                  <a16:creationId xmlns:a16="http://schemas.microsoft.com/office/drawing/2014/main" id="{AB79F5A7-A885-DB1E-EE49-96C80BBCA877}"/>
                </a:ext>
              </a:extLst>
            </p:cNvPr>
            <p:cNvSpPr/>
            <p:nvPr/>
          </p:nvSpPr>
          <p:spPr>
            <a:xfrm>
              <a:off x="551999" y="2464138"/>
              <a:ext cx="581361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dirty="0"/>
            </a:p>
          </p:txBody>
        </p:sp>
      </p:grpSp>
      <p:grpSp>
        <p:nvGrpSpPr>
          <p:cNvPr id="12" name="Google Shape;883;p55">
            <a:extLst>
              <a:ext uri="{FF2B5EF4-FFF2-40B4-BE49-F238E27FC236}">
                <a16:creationId xmlns:a16="http://schemas.microsoft.com/office/drawing/2014/main" id="{C7B9835D-13E2-765D-8051-830C4CE1DBBE}"/>
              </a:ext>
            </a:extLst>
          </p:cNvPr>
          <p:cNvGrpSpPr/>
          <p:nvPr/>
        </p:nvGrpSpPr>
        <p:grpSpPr>
          <a:xfrm>
            <a:off x="551843" y="6352412"/>
            <a:ext cx="9765745" cy="500400"/>
            <a:chOff x="551843" y="3459600"/>
            <a:chExt cx="9765745" cy="500400"/>
          </a:xfrm>
        </p:grpSpPr>
        <p:sp>
          <p:nvSpPr>
            <p:cNvPr id="13" name="Google Shape;884;p55">
              <a:extLst>
                <a:ext uri="{FF2B5EF4-FFF2-40B4-BE49-F238E27FC236}">
                  <a16:creationId xmlns:a16="http://schemas.microsoft.com/office/drawing/2014/main" id="{21809E7F-D18A-8702-6E58-86CD7921ADBB}"/>
                </a:ext>
              </a:extLst>
            </p:cNvPr>
            <p:cNvSpPr txBox="1"/>
            <p:nvPr/>
          </p:nvSpPr>
          <p:spPr>
            <a:xfrm>
              <a:off x="1742388" y="3459600"/>
              <a:ext cx="8575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Те же требования к памяти</a:t>
              </a:r>
            </a:p>
          </p:txBody>
        </p:sp>
        <p:sp>
          <p:nvSpPr>
            <p:cNvPr id="14" name="Google Shape;885;p55">
              <a:extLst>
                <a:ext uri="{FF2B5EF4-FFF2-40B4-BE49-F238E27FC236}">
                  <a16:creationId xmlns:a16="http://schemas.microsoft.com/office/drawing/2014/main" id="{44168B49-ABB5-8AF7-E95E-38681954B5AD}"/>
                </a:ext>
              </a:extLst>
            </p:cNvPr>
            <p:cNvSpPr/>
            <p:nvPr/>
          </p:nvSpPr>
          <p:spPr>
            <a:xfrm>
              <a:off x="551843" y="34596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dirty="0"/>
            </a:p>
          </p:txBody>
        </p:sp>
      </p:grpSp>
      <p:grpSp>
        <p:nvGrpSpPr>
          <p:cNvPr id="15" name="Google Shape;886;p55">
            <a:extLst>
              <a:ext uri="{FF2B5EF4-FFF2-40B4-BE49-F238E27FC236}">
                <a16:creationId xmlns:a16="http://schemas.microsoft.com/office/drawing/2014/main" id="{3FF9F39B-03C0-327C-8B45-F1E78896316C}"/>
              </a:ext>
            </a:extLst>
          </p:cNvPr>
          <p:cNvGrpSpPr/>
          <p:nvPr/>
        </p:nvGrpSpPr>
        <p:grpSpPr>
          <a:xfrm>
            <a:off x="551414" y="7092053"/>
            <a:ext cx="9766174" cy="510822"/>
            <a:chOff x="551993" y="4451400"/>
            <a:chExt cx="9766174" cy="510822"/>
          </a:xfrm>
        </p:grpSpPr>
        <p:sp>
          <p:nvSpPr>
            <p:cNvPr id="16" name="Google Shape;887;p55">
              <a:extLst>
                <a:ext uri="{FF2B5EF4-FFF2-40B4-BE49-F238E27FC236}">
                  <a16:creationId xmlns:a16="http://schemas.microsoft.com/office/drawing/2014/main" id="{DEA753A6-1DD1-9F40-B2C7-62052435FE99}"/>
                </a:ext>
              </a:extLst>
            </p:cNvPr>
            <p:cNvSpPr txBox="1"/>
            <p:nvPr/>
          </p:nvSpPr>
          <p:spPr>
            <a:xfrm>
              <a:off x="1742967" y="4458222"/>
              <a:ext cx="85752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>
                  <a:latin typeface="Proxima Nova"/>
                  <a:ea typeface="Proxima Nova"/>
                  <a:cs typeface="Proxima Nova"/>
                  <a:sym typeface="Proxima Nova"/>
                </a:rPr>
                <a:t>Прирост точности: 67% → 81%</a:t>
              </a:r>
            </a:p>
          </p:txBody>
        </p:sp>
        <p:sp>
          <p:nvSpPr>
            <p:cNvPr id="17" name="Google Shape;888;p55">
              <a:extLst>
                <a:ext uri="{FF2B5EF4-FFF2-40B4-BE49-F238E27FC236}">
                  <a16:creationId xmlns:a16="http://schemas.microsoft.com/office/drawing/2014/main" id="{E03C8729-B811-7AD8-B79A-DE969E73C090}"/>
                </a:ext>
              </a:extLst>
            </p:cNvPr>
            <p:cNvSpPr/>
            <p:nvPr/>
          </p:nvSpPr>
          <p:spPr>
            <a:xfrm>
              <a:off x="551993" y="44514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5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2" name="Google Shape;1062;p65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3" name="Google Shape;1063;p65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4" name="Google Shape;1064;p65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5" name="Google Shape;1065;p65"/>
          <p:cNvSpPr txBox="1"/>
          <p:nvPr/>
        </p:nvSpPr>
        <p:spPr>
          <a:xfrm>
            <a:off x="551850" y="489600"/>
            <a:ext cx="14292000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1" dirty="0">
                <a:latin typeface="Proxima Nova"/>
                <a:ea typeface="Proxima Nova"/>
                <a:cs typeface="Proxima Nova"/>
                <a:sym typeface="Proxima Nova"/>
              </a:rPr>
              <a:t>Дообучение LLM методом LoRa для генерации промтов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"/>
          <p:cNvSpPr txBox="1"/>
          <p:nvPr/>
        </p:nvSpPr>
        <p:spPr>
          <a:xfrm>
            <a:off x="5622878" y="657800"/>
            <a:ext cx="5213444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00" dirty="0" err="1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Qwen</a:t>
            </a:r>
            <a:r>
              <a:rPr lang="en-US" sz="5600" dirty="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vs Falcon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6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764" name="Google Shape;764;p48"/>
          <p:cNvGrpSpPr/>
          <p:nvPr/>
        </p:nvGrpSpPr>
        <p:grpSpPr>
          <a:xfrm>
            <a:off x="1083569" y="2614038"/>
            <a:ext cx="488400" cy="488700"/>
            <a:chOff x="551850" y="1469250"/>
            <a:chExt cx="488400" cy="488700"/>
          </a:xfrm>
        </p:grpSpPr>
        <p:sp>
          <p:nvSpPr>
            <p:cNvPr id="765" name="Google Shape;765;p48"/>
            <p:cNvSpPr/>
            <p:nvPr/>
          </p:nvSpPr>
          <p:spPr>
            <a:xfrm>
              <a:off x="551850" y="1469250"/>
              <a:ext cx="488400" cy="4887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48"/>
            <p:cNvSpPr/>
            <p:nvPr/>
          </p:nvSpPr>
          <p:spPr>
            <a:xfrm rot="5400000">
              <a:off x="748682" y="1639520"/>
              <a:ext cx="94550" cy="148229"/>
            </a:xfrm>
            <a:custGeom>
              <a:avLst/>
              <a:gdLst/>
              <a:ahLst/>
              <a:cxnLst/>
              <a:rect l="l" t="t" r="r" b="b"/>
              <a:pathLst>
                <a:path w="130414" h="204454" extrusionOk="0">
                  <a:moveTo>
                    <a:pt x="65106" y="0"/>
                  </a:moveTo>
                  <a:cubicBezTo>
                    <a:pt x="62885" y="0"/>
                    <a:pt x="60665" y="858"/>
                    <a:pt x="58949" y="2574"/>
                  </a:cubicBezTo>
                  <a:lnTo>
                    <a:pt x="3432" y="58899"/>
                  </a:lnTo>
                  <a:cubicBezTo>
                    <a:pt x="0" y="62532"/>
                    <a:pt x="0" y="67983"/>
                    <a:pt x="3432" y="71415"/>
                  </a:cubicBezTo>
                  <a:cubicBezTo>
                    <a:pt x="5148" y="73232"/>
                    <a:pt x="7369" y="74140"/>
                    <a:pt x="9590" y="74140"/>
                  </a:cubicBezTo>
                  <a:cubicBezTo>
                    <a:pt x="11810" y="74140"/>
                    <a:pt x="14031" y="73232"/>
                    <a:pt x="15747" y="71415"/>
                  </a:cubicBezTo>
                  <a:lnTo>
                    <a:pt x="56324" y="30232"/>
                  </a:lnTo>
                  <a:lnTo>
                    <a:pt x="56324" y="194157"/>
                  </a:lnTo>
                  <a:cubicBezTo>
                    <a:pt x="56324" y="194561"/>
                    <a:pt x="56324" y="195167"/>
                    <a:pt x="56324" y="195570"/>
                  </a:cubicBezTo>
                  <a:cubicBezTo>
                    <a:pt x="56324" y="200415"/>
                    <a:pt x="60362" y="204453"/>
                    <a:pt x="65207" y="204453"/>
                  </a:cubicBezTo>
                  <a:cubicBezTo>
                    <a:pt x="70052" y="204453"/>
                    <a:pt x="74089" y="200415"/>
                    <a:pt x="74089" y="195570"/>
                  </a:cubicBezTo>
                  <a:cubicBezTo>
                    <a:pt x="74089" y="195167"/>
                    <a:pt x="73888" y="194561"/>
                    <a:pt x="73888" y="194157"/>
                  </a:cubicBezTo>
                  <a:lnTo>
                    <a:pt x="73888" y="30232"/>
                  </a:lnTo>
                  <a:lnTo>
                    <a:pt x="114667" y="71415"/>
                  </a:lnTo>
                  <a:cubicBezTo>
                    <a:pt x="116383" y="73232"/>
                    <a:pt x="118603" y="74140"/>
                    <a:pt x="120824" y="74140"/>
                  </a:cubicBezTo>
                  <a:cubicBezTo>
                    <a:pt x="123045" y="74140"/>
                    <a:pt x="125265" y="73232"/>
                    <a:pt x="126981" y="71415"/>
                  </a:cubicBezTo>
                  <a:cubicBezTo>
                    <a:pt x="130413" y="67983"/>
                    <a:pt x="130413" y="62532"/>
                    <a:pt x="126981" y="58899"/>
                  </a:cubicBezTo>
                  <a:lnTo>
                    <a:pt x="71263" y="2574"/>
                  </a:lnTo>
                  <a:cubicBezTo>
                    <a:pt x="69547" y="858"/>
                    <a:pt x="67327" y="0"/>
                    <a:pt x="65106" y="0"/>
                  </a:cubicBezTo>
                  <a:close/>
                </a:path>
              </a:pathLst>
            </a:custGeom>
            <a:solidFill>
              <a:srgbClr val="4BD0A0"/>
            </a:solidFill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" name="Google Shape;2402;p122">
            <a:extLst>
              <a:ext uri="{FF2B5EF4-FFF2-40B4-BE49-F238E27FC236}">
                <a16:creationId xmlns:a16="http://schemas.microsoft.com/office/drawing/2014/main" id="{C7E884BC-79C0-659B-F763-10DCD462197C}"/>
              </a:ext>
            </a:extLst>
          </p:cNvPr>
          <p:cNvSpPr/>
          <p:nvPr/>
        </p:nvSpPr>
        <p:spPr>
          <a:xfrm>
            <a:off x="1149110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Falcon лучше на </a:t>
            </a:r>
            <a:r>
              <a:rPr lang="ru-RU" sz="2000" b="1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мультиклассовых</a:t>
            </a: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запросах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(90% против 85%) — даёт более развёрнутые </a:t>
            </a:r>
            <a:r>
              <a:rPr lang="ru-RU" sz="2000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промпты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лучше связывает объекты.</a:t>
            </a:r>
            <a:endParaRPr lang="ru-RU" sz="2000" kern="100" dirty="0">
              <a:effectLst/>
              <a:latin typeface="Proxima Nova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968;p58">
            <a:extLst>
              <a:ext uri="{FF2B5EF4-FFF2-40B4-BE49-F238E27FC236}">
                <a16:creationId xmlns:a16="http://schemas.microsoft.com/office/drawing/2014/main" id="{275ACCCF-B867-3B7A-4212-BB1A1F934732}"/>
              </a:ext>
            </a:extLst>
          </p:cNvPr>
          <p:cNvSpPr txBox="1"/>
          <p:nvPr/>
        </p:nvSpPr>
        <p:spPr>
          <a:xfrm>
            <a:off x="1325406" y="7358995"/>
            <a:ext cx="6904194" cy="27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360000" lvl="0" indent="-33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3.23B</a:t>
            </a:r>
            <a:br>
              <a:rPr lang="ru" sz="2400" dirty="0">
                <a:latin typeface="Proxima Nova"/>
                <a:ea typeface="Proxima Nova"/>
                <a:cs typeface="Proxima Nova"/>
                <a:sym typeface="Proxima Nova"/>
              </a:rPr>
            </a:b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60000" lvl="0" indent="-332400" algn="l" rtl="0"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Обучаемых (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LoRA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5.77M</a:t>
            </a:r>
            <a:endParaRPr lang="ru-RU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BC7EB-315E-CDA0-32B9-2B045EFB78C4}"/>
              </a:ext>
            </a:extLst>
          </p:cNvPr>
          <p:cNvSpPr txBox="1"/>
          <p:nvPr/>
        </p:nvSpPr>
        <p:spPr>
          <a:xfrm>
            <a:off x="9894629" y="7358995"/>
            <a:ext cx="8802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0" indent="-33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3.09B</a:t>
            </a:r>
            <a:br>
              <a:rPr lang="ru-RU" sz="2400" dirty="0">
                <a:latin typeface="Proxima Nova"/>
                <a:ea typeface="Proxima Nova"/>
                <a:cs typeface="Proxima Nova"/>
                <a:sym typeface="Proxima Nova"/>
              </a:rPr>
            </a:br>
            <a:endParaRPr lang="ru-RU" sz="24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60000" lvl="0" indent="-332400" algn="l" rtl="0"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Обучаемых (</a:t>
            </a: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LoRA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 </a:t>
            </a: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7.45M</a:t>
            </a:r>
            <a:endParaRPr lang="ru-RU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2402;p122">
            <a:extLst>
              <a:ext uri="{FF2B5EF4-FFF2-40B4-BE49-F238E27FC236}">
                <a16:creationId xmlns:a16="http://schemas.microsoft.com/office/drawing/2014/main" id="{9EA53160-70F0-A6DC-ADDE-8508744587FD}"/>
              </a:ext>
            </a:extLst>
          </p:cNvPr>
          <p:cNvSpPr/>
          <p:nvPr/>
        </p:nvSpPr>
        <p:spPr>
          <a:xfrm>
            <a:off x="9421927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b="1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превосходит Falcon по точности на основных классах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(94% против 86%). Особенно заметно на сложных классах (</a:t>
            </a:r>
            <a:r>
              <a:rPr lang="ru-RU" sz="2000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kern="0" dirty="0" err="1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flower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kern="100" dirty="0">
              <a:effectLst/>
              <a:latin typeface="Proxima Nova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3A786-5591-EF46-8167-BDD549BCD959}"/>
              </a:ext>
            </a:extLst>
          </p:cNvPr>
          <p:cNvSpPr txBox="1"/>
          <p:nvPr/>
        </p:nvSpPr>
        <p:spPr>
          <a:xfrm>
            <a:off x="9894629" y="2674865"/>
            <a:ext cx="6559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Qwen</a:t>
            </a:r>
            <a:endParaRPr lang="ru-RU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D19E3-112B-BF28-D6EF-CF6C2D2AA014}"/>
              </a:ext>
            </a:extLst>
          </p:cNvPr>
          <p:cNvSpPr txBox="1"/>
          <p:nvPr/>
        </p:nvSpPr>
        <p:spPr>
          <a:xfrm>
            <a:off x="1833521" y="2627556"/>
            <a:ext cx="6559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Falcon</a:t>
            </a:r>
            <a:endParaRPr lang="ru-RU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6" name="Google Shape;764;p48">
            <a:extLst>
              <a:ext uri="{FF2B5EF4-FFF2-40B4-BE49-F238E27FC236}">
                <a16:creationId xmlns:a16="http://schemas.microsoft.com/office/drawing/2014/main" id="{89A506BC-900F-FF26-199B-948C0918FCC3}"/>
              </a:ext>
            </a:extLst>
          </p:cNvPr>
          <p:cNvGrpSpPr/>
          <p:nvPr/>
        </p:nvGrpSpPr>
        <p:grpSpPr>
          <a:xfrm>
            <a:off x="9239894" y="2647830"/>
            <a:ext cx="488400" cy="488700"/>
            <a:chOff x="551850" y="1469250"/>
            <a:chExt cx="488400" cy="488700"/>
          </a:xfrm>
        </p:grpSpPr>
        <p:sp>
          <p:nvSpPr>
            <p:cNvPr id="17" name="Google Shape;765;p48">
              <a:extLst>
                <a:ext uri="{FF2B5EF4-FFF2-40B4-BE49-F238E27FC236}">
                  <a16:creationId xmlns:a16="http://schemas.microsoft.com/office/drawing/2014/main" id="{BB94E882-6E4A-9771-33CF-7A6CD5D5D61D}"/>
                </a:ext>
              </a:extLst>
            </p:cNvPr>
            <p:cNvSpPr/>
            <p:nvPr/>
          </p:nvSpPr>
          <p:spPr>
            <a:xfrm>
              <a:off x="551850" y="1469250"/>
              <a:ext cx="488400" cy="4887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766;p48">
              <a:extLst>
                <a:ext uri="{FF2B5EF4-FFF2-40B4-BE49-F238E27FC236}">
                  <a16:creationId xmlns:a16="http://schemas.microsoft.com/office/drawing/2014/main" id="{496DA93C-4054-FA9C-2455-22C6B9A0E346}"/>
                </a:ext>
              </a:extLst>
            </p:cNvPr>
            <p:cNvSpPr/>
            <p:nvPr/>
          </p:nvSpPr>
          <p:spPr>
            <a:xfrm rot="5400000">
              <a:off x="748682" y="1639520"/>
              <a:ext cx="94550" cy="148229"/>
            </a:xfrm>
            <a:custGeom>
              <a:avLst/>
              <a:gdLst/>
              <a:ahLst/>
              <a:cxnLst/>
              <a:rect l="l" t="t" r="r" b="b"/>
              <a:pathLst>
                <a:path w="130414" h="204454" extrusionOk="0">
                  <a:moveTo>
                    <a:pt x="65106" y="0"/>
                  </a:moveTo>
                  <a:cubicBezTo>
                    <a:pt x="62885" y="0"/>
                    <a:pt x="60665" y="858"/>
                    <a:pt x="58949" y="2574"/>
                  </a:cubicBezTo>
                  <a:lnTo>
                    <a:pt x="3432" y="58899"/>
                  </a:lnTo>
                  <a:cubicBezTo>
                    <a:pt x="0" y="62532"/>
                    <a:pt x="0" y="67983"/>
                    <a:pt x="3432" y="71415"/>
                  </a:cubicBezTo>
                  <a:cubicBezTo>
                    <a:pt x="5148" y="73232"/>
                    <a:pt x="7369" y="74140"/>
                    <a:pt x="9590" y="74140"/>
                  </a:cubicBezTo>
                  <a:cubicBezTo>
                    <a:pt x="11810" y="74140"/>
                    <a:pt x="14031" y="73232"/>
                    <a:pt x="15747" y="71415"/>
                  </a:cubicBezTo>
                  <a:lnTo>
                    <a:pt x="56324" y="30232"/>
                  </a:lnTo>
                  <a:lnTo>
                    <a:pt x="56324" y="194157"/>
                  </a:lnTo>
                  <a:cubicBezTo>
                    <a:pt x="56324" y="194561"/>
                    <a:pt x="56324" y="195167"/>
                    <a:pt x="56324" y="195570"/>
                  </a:cubicBezTo>
                  <a:cubicBezTo>
                    <a:pt x="56324" y="200415"/>
                    <a:pt x="60362" y="204453"/>
                    <a:pt x="65207" y="204453"/>
                  </a:cubicBezTo>
                  <a:cubicBezTo>
                    <a:pt x="70052" y="204453"/>
                    <a:pt x="74089" y="200415"/>
                    <a:pt x="74089" y="195570"/>
                  </a:cubicBezTo>
                  <a:cubicBezTo>
                    <a:pt x="74089" y="195167"/>
                    <a:pt x="73888" y="194561"/>
                    <a:pt x="73888" y="194157"/>
                  </a:cubicBezTo>
                  <a:lnTo>
                    <a:pt x="73888" y="30232"/>
                  </a:lnTo>
                  <a:lnTo>
                    <a:pt x="114667" y="71415"/>
                  </a:lnTo>
                  <a:cubicBezTo>
                    <a:pt x="116383" y="73232"/>
                    <a:pt x="118603" y="74140"/>
                    <a:pt x="120824" y="74140"/>
                  </a:cubicBezTo>
                  <a:cubicBezTo>
                    <a:pt x="123045" y="74140"/>
                    <a:pt x="125265" y="73232"/>
                    <a:pt x="126981" y="71415"/>
                  </a:cubicBezTo>
                  <a:cubicBezTo>
                    <a:pt x="130413" y="67983"/>
                    <a:pt x="130413" y="62532"/>
                    <a:pt x="126981" y="58899"/>
                  </a:cubicBezTo>
                  <a:lnTo>
                    <a:pt x="71263" y="2574"/>
                  </a:lnTo>
                  <a:cubicBezTo>
                    <a:pt x="69547" y="858"/>
                    <a:pt x="67327" y="0"/>
                    <a:pt x="65106" y="0"/>
                  </a:cubicBezTo>
                  <a:close/>
                </a:path>
              </a:pathLst>
            </a:custGeom>
            <a:solidFill>
              <a:srgbClr val="4BD0A0"/>
            </a:solidFill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7875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"/>
          <p:cNvSpPr txBox="1"/>
          <p:nvPr/>
        </p:nvSpPr>
        <p:spPr>
          <a:xfrm>
            <a:off x="5923128" y="711561"/>
            <a:ext cx="5445457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00" dirty="0" err="1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Qwen</a:t>
            </a:r>
            <a:r>
              <a:rPr lang="en-US" sz="5600" dirty="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vs Falcon</a:t>
            </a:r>
          </a:p>
        </p:txBody>
      </p:sp>
      <p:grpSp>
        <p:nvGrpSpPr>
          <p:cNvPr id="764" name="Google Shape;764;p48"/>
          <p:cNvGrpSpPr/>
          <p:nvPr/>
        </p:nvGrpSpPr>
        <p:grpSpPr>
          <a:xfrm>
            <a:off x="1083569" y="2614038"/>
            <a:ext cx="488400" cy="488700"/>
            <a:chOff x="551850" y="1469250"/>
            <a:chExt cx="488400" cy="488700"/>
          </a:xfrm>
        </p:grpSpPr>
        <p:sp>
          <p:nvSpPr>
            <p:cNvPr id="765" name="Google Shape;765;p48"/>
            <p:cNvSpPr/>
            <p:nvPr/>
          </p:nvSpPr>
          <p:spPr>
            <a:xfrm>
              <a:off x="551850" y="1469250"/>
              <a:ext cx="488400" cy="4887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48"/>
            <p:cNvSpPr/>
            <p:nvPr/>
          </p:nvSpPr>
          <p:spPr>
            <a:xfrm rot="5400000">
              <a:off x="748682" y="1639520"/>
              <a:ext cx="94550" cy="148229"/>
            </a:xfrm>
            <a:custGeom>
              <a:avLst/>
              <a:gdLst/>
              <a:ahLst/>
              <a:cxnLst/>
              <a:rect l="l" t="t" r="r" b="b"/>
              <a:pathLst>
                <a:path w="130414" h="204454" extrusionOk="0">
                  <a:moveTo>
                    <a:pt x="65106" y="0"/>
                  </a:moveTo>
                  <a:cubicBezTo>
                    <a:pt x="62885" y="0"/>
                    <a:pt x="60665" y="858"/>
                    <a:pt x="58949" y="2574"/>
                  </a:cubicBezTo>
                  <a:lnTo>
                    <a:pt x="3432" y="58899"/>
                  </a:lnTo>
                  <a:cubicBezTo>
                    <a:pt x="0" y="62532"/>
                    <a:pt x="0" y="67983"/>
                    <a:pt x="3432" y="71415"/>
                  </a:cubicBezTo>
                  <a:cubicBezTo>
                    <a:pt x="5148" y="73232"/>
                    <a:pt x="7369" y="74140"/>
                    <a:pt x="9590" y="74140"/>
                  </a:cubicBezTo>
                  <a:cubicBezTo>
                    <a:pt x="11810" y="74140"/>
                    <a:pt x="14031" y="73232"/>
                    <a:pt x="15747" y="71415"/>
                  </a:cubicBezTo>
                  <a:lnTo>
                    <a:pt x="56324" y="30232"/>
                  </a:lnTo>
                  <a:lnTo>
                    <a:pt x="56324" y="194157"/>
                  </a:lnTo>
                  <a:cubicBezTo>
                    <a:pt x="56324" y="194561"/>
                    <a:pt x="56324" y="195167"/>
                    <a:pt x="56324" y="195570"/>
                  </a:cubicBezTo>
                  <a:cubicBezTo>
                    <a:pt x="56324" y="200415"/>
                    <a:pt x="60362" y="204453"/>
                    <a:pt x="65207" y="204453"/>
                  </a:cubicBezTo>
                  <a:cubicBezTo>
                    <a:pt x="70052" y="204453"/>
                    <a:pt x="74089" y="200415"/>
                    <a:pt x="74089" y="195570"/>
                  </a:cubicBezTo>
                  <a:cubicBezTo>
                    <a:pt x="74089" y="195167"/>
                    <a:pt x="73888" y="194561"/>
                    <a:pt x="73888" y="194157"/>
                  </a:cubicBezTo>
                  <a:lnTo>
                    <a:pt x="73888" y="30232"/>
                  </a:lnTo>
                  <a:lnTo>
                    <a:pt x="114667" y="71415"/>
                  </a:lnTo>
                  <a:cubicBezTo>
                    <a:pt x="116383" y="73232"/>
                    <a:pt x="118603" y="74140"/>
                    <a:pt x="120824" y="74140"/>
                  </a:cubicBezTo>
                  <a:cubicBezTo>
                    <a:pt x="123045" y="74140"/>
                    <a:pt x="125265" y="73232"/>
                    <a:pt x="126981" y="71415"/>
                  </a:cubicBezTo>
                  <a:cubicBezTo>
                    <a:pt x="130413" y="67983"/>
                    <a:pt x="130413" y="62532"/>
                    <a:pt x="126981" y="58899"/>
                  </a:cubicBezTo>
                  <a:lnTo>
                    <a:pt x="71263" y="2574"/>
                  </a:lnTo>
                  <a:cubicBezTo>
                    <a:pt x="69547" y="858"/>
                    <a:pt x="67327" y="0"/>
                    <a:pt x="65106" y="0"/>
                  </a:cubicBezTo>
                  <a:close/>
                </a:path>
              </a:pathLst>
            </a:custGeom>
            <a:solidFill>
              <a:srgbClr val="4BD0A0"/>
            </a:solidFill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" name="Google Shape;2402;p122">
            <a:extLst>
              <a:ext uri="{FF2B5EF4-FFF2-40B4-BE49-F238E27FC236}">
                <a16:creationId xmlns:a16="http://schemas.microsoft.com/office/drawing/2014/main" id="{C7E884BC-79C0-659B-F763-10DCD462197C}"/>
              </a:ext>
            </a:extLst>
          </p:cNvPr>
          <p:cNvSpPr/>
          <p:nvPr/>
        </p:nvSpPr>
        <p:spPr>
          <a:xfrm>
            <a:off x="1149110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131"/>
              </a:buClr>
              <a:buSzPts val="22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fighter jet, on ground, military</a:t>
            </a:r>
          </a:p>
        </p:txBody>
      </p:sp>
      <p:sp>
        <p:nvSpPr>
          <p:cNvPr id="8" name="Google Shape;968;p58">
            <a:extLst>
              <a:ext uri="{FF2B5EF4-FFF2-40B4-BE49-F238E27FC236}">
                <a16:creationId xmlns:a16="http://schemas.microsoft.com/office/drawing/2014/main" id="{275ACCCF-B867-3B7A-4212-BB1A1F934732}"/>
              </a:ext>
            </a:extLst>
          </p:cNvPr>
          <p:cNvSpPr txBox="1"/>
          <p:nvPr/>
        </p:nvSpPr>
        <p:spPr>
          <a:xfrm>
            <a:off x="1489179" y="7357569"/>
            <a:ext cx="6904194" cy="27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360000" lvl="0" indent="-33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en-US" sz="2400" dirty="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Falcon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BC7EB-315E-CDA0-32B9-2B045EFB78C4}"/>
              </a:ext>
            </a:extLst>
          </p:cNvPr>
          <p:cNvSpPr txBox="1"/>
          <p:nvPr/>
        </p:nvSpPr>
        <p:spPr>
          <a:xfrm>
            <a:off x="9894629" y="7358995"/>
            <a:ext cx="8802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0" indent="-33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Font typeface="Proxima Nova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Qwen</a:t>
            </a:r>
            <a:endParaRPr lang="ru-RU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2402;p122">
            <a:extLst>
              <a:ext uri="{FF2B5EF4-FFF2-40B4-BE49-F238E27FC236}">
                <a16:creationId xmlns:a16="http://schemas.microsoft.com/office/drawing/2014/main" id="{9EA53160-70F0-A6DC-ADDE-8508744587FD}"/>
              </a:ext>
            </a:extLst>
          </p:cNvPr>
          <p:cNvSpPr/>
          <p:nvPr/>
        </p:nvSpPr>
        <p:spPr>
          <a:xfrm>
            <a:off x="9421927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131"/>
              </a:buClr>
              <a:buSzPts val="22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propeller airplane, parked on tarmac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3A786-5591-EF46-8167-BDD549BCD959}"/>
              </a:ext>
            </a:extLst>
          </p:cNvPr>
          <p:cNvSpPr txBox="1"/>
          <p:nvPr/>
        </p:nvSpPr>
        <p:spPr>
          <a:xfrm>
            <a:off x="9894629" y="2674865"/>
            <a:ext cx="6559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«пропеллерный самолет на земле»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D19E3-112B-BF28-D6EF-CF6C2D2AA014}"/>
              </a:ext>
            </a:extLst>
          </p:cNvPr>
          <p:cNvSpPr txBox="1"/>
          <p:nvPr/>
        </p:nvSpPr>
        <p:spPr>
          <a:xfrm>
            <a:off x="1833521" y="2627556"/>
            <a:ext cx="6559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«пропеллерный самолет на земле»</a:t>
            </a:r>
          </a:p>
        </p:txBody>
      </p:sp>
      <p:grpSp>
        <p:nvGrpSpPr>
          <p:cNvPr id="16" name="Google Shape;764;p48">
            <a:extLst>
              <a:ext uri="{FF2B5EF4-FFF2-40B4-BE49-F238E27FC236}">
                <a16:creationId xmlns:a16="http://schemas.microsoft.com/office/drawing/2014/main" id="{89A506BC-900F-FF26-199B-948C0918FCC3}"/>
              </a:ext>
            </a:extLst>
          </p:cNvPr>
          <p:cNvGrpSpPr/>
          <p:nvPr/>
        </p:nvGrpSpPr>
        <p:grpSpPr>
          <a:xfrm>
            <a:off x="9239894" y="2647830"/>
            <a:ext cx="488400" cy="488700"/>
            <a:chOff x="551850" y="1469250"/>
            <a:chExt cx="488400" cy="488700"/>
          </a:xfrm>
        </p:grpSpPr>
        <p:sp>
          <p:nvSpPr>
            <p:cNvPr id="17" name="Google Shape;765;p48">
              <a:extLst>
                <a:ext uri="{FF2B5EF4-FFF2-40B4-BE49-F238E27FC236}">
                  <a16:creationId xmlns:a16="http://schemas.microsoft.com/office/drawing/2014/main" id="{BB94E882-6E4A-9771-33CF-7A6CD5D5D61D}"/>
                </a:ext>
              </a:extLst>
            </p:cNvPr>
            <p:cNvSpPr/>
            <p:nvPr/>
          </p:nvSpPr>
          <p:spPr>
            <a:xfrm>
              <a:off x="551850" y="1469250"/>
              <a:ext cx="488400" cy="4887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766;p48">
              <a:extLst>
                <a:ext uri="{FF2B5EF4-FFF2-40B4-BE49-F238E27FC236}">
                  <a16:creationId xmlns:a16="http://schemas.microsoft.com/office/drawing/2014/main" id="{496DA93C-4054-FA9C-2455-22C6B9A0E346}"/>
                </a:ext>
              </a:extLst>
            </p:cNvPr>
            <p:cNvSpPr/>
            <p:nvPr/>
          </p:nvSpPr>
          <p:spPr>
            <a:xfrm rot="5400000">
              <a:off x="748682" y="1639520"/>
              <a:ext cx="94550" cy="148229"/>
            </a:xfrm>
            <a:custGeom>
              <a:avLst/>
              <a:gdLst/>
              <a:ahLst/>
              <a:cxnLst/>
              <a:rect l="l" t="t" r="r" b="b"/>
              <a:pathLst>
                <a:path w="130414" h="204454" extrusionOk="0">
                  <a:moveTo>
                    <a:pt x="65106" y="0"/>
                  </a:moveTo>
                  <a:cubicBezTo>
                    <a:pt x="62885" y="0"/>
                    <a:pt x="60665" y="858"/>
                    <a:pt x="58949" y="2574"/>
                  </a:cubicBezTo>
                  <a:lnTo>
                    <a:pt x="3432" y="58899"/>
                  </a:lnTo>
                  <a:cubicBezTo>
                    <a:pt x="0" y="62532"/>
                    <a:pt x="0" y="67983"/>
                    <a:pt x="3432" y="71415"/>
                  </a:cubicBezTo>
                  <a:cubicBezTo>
                    <a:pt x="5148" y="73232"/>
                    <a:pt x="7369" y="74140"/>
                    <a:pt x="9590" y="74140"/>
                  </a:cubicBezTo>
                  <a:cubicBezTo>
                    <a:pt x="11810" y="74140"/>
                    <a:pt x="14031" y="73232"/>
                    <a:pt x="15747" y="71415"/>
                  </a:cubicBezTo>
                  <a:lnTo>
                    <a:pt x="56324" y="30232"/>
                  </a:lnTo>
                  <a:lnTo>
                    <a:pt x="56324" y="194157"/>
                  </a:lnTo>
                  <a:cubicBezTo>
                    <a:pt x="56324" y="194561"/>
                    <a:pt x="56324" y="195167"/>
                    <a:pt x="56324" y="195570"/>
                  </a:cubicBezTo>
                  <a:cubicBezTo>
                    <a:pt x="56324" y="200415"/>
                    <a:pt x="60362" y="204453"/>
                    <a:pt x="65207" y="204453"/>
                  </a:cubicBezTo>
                  <a:cubicBezTo>
                    <a:pt x="70052" y="204453"/>
                    <a:pt x="74089" y="200415"/>
                    <a:pt x="74089" y="195570"/>
                  </a:cubicBezTo>
                  <a:cubicBezTo>
                    <a:pt x="74089" y="195167"/>
                    <a:pt x="73888" y="194561"/>
                    <a:pt x="73888" y="194157"/>
                  </a:cubicBezTo>
                  <a:lnTo>
                    <a:pt x="73888" y="30232"/>
                  </a:lnTo>
                  <a:lnTo>
                    <a:pt x="114667" y="71415"/>
                  </a:lnTo>
                  <a:cubicBezTo>
                    <a:pt x="116383" y="73232"/>
                    <a:pt x="118603" y="74140"/>
                    <a:pt x="120824" y="74140"/>
                  </a:cubicBezTo>
                  <a:cubicBezTo>
                    <a:pt x="123045" y="74140"/>
                    <a:pt x="125265" y="73232"/>
                    <a:pt x="126981" y="71415"/>
                  </a:cubicBezTo>
                  <a:cubicBezTo>
                    <a:pt x="130413" y="67983"/>
                    <a:pt x="130413" y="62532"/>
                    <a:pt x="126981" y="58899"/>
                  </a:cubicBezTo>
                  <a:lnTo>
                    <a:pt x="71263" y="2574"/>
                  </a:lnTo>
                  <a:cubicBezTo>
                    <a:pt x="69547" y="858"/>
                    <a:pt x="67327" y="0"/>
                    <a:pt x="65106" y="0"/>
                  </a:cubicBezTo>
                  <a:close/>
                </a:path>
              </a:pathLst>
            </a:custGeom>
            <a:solidFill>
              <a:srgbClr val="4BD0A0"/>
            </a:solidFill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6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1" name="Google Shape;1071;p66"/>
          <p:cNvSpPr/>
          <p:nvPr/>
        </p:nvSpPr>
        <p:spPr>
          <a:xfrm>
            <a:off x="9143693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3" name="Google Shape;1073;p66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4" name="Google Shape;1074;p66"/>
          <p:cNvSpPr txBox="1"/>
          <p:nvPr/>
        </p:nvSpPr>
        <p:spPr>
          <a:xfrm>
            <a:off x="551850" y="489600"/>
            <a:ext cx="14292000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 b="1" dirty="0">
                <a:latin typeface="Proxima Nova"/>
                <a:ea typeface="Proxima Nova"/>
                <a:cs typeface="Proxima Nova"/>
                <a:sym typeface="Proxima Nova"/>
              </a:rPr>
              <a:t>Дообучение Resnet18 для оценки качества генерации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9" name="Google Shape;1519;p93"/>
          <p:cNvPicPr preferRelativeResize="0"/>
          <p:nvPr/>
        </p:nvPicPr>
        <p:blipFill>
          <a:blip r:embed="rId3"/>
          <a:srcRect t="17526" b="17526"/>
          <a:stretch/>
        </p:blipFill>
        <p:spPr>
          <a:xfrm rot="148">
            <a:off x="1479970" y="3476811"/>
            <a:ext cx="5227391" cy="3333379"/>
          </a:xfrm>
          <a:prstGeom prst="roundRect">
            <a:avLst>
              <a:gd name="adj" fmla="val 8562"/>
            </a:avLst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20" name="Google Shape;1520;p93"/>
          <p:cNvSpPr txBox="1"/>
          <p:nvPr/>
        </p:nvSpPr>
        <p:spPr>
          <a:xfrm>
            <a:off x="1472190" y="779989"/>
            <a:ext cx="142917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>
                <a:latin typeface="Proxima Nova"/>
                <a:ea typeface="Proxima Nova"/>
                <a:cs typeface="Proxima Nova"/>
                <a:sym typeface="Proxima Nova"/>
              </a:rPr>
              <a:t>Первый эксперимент: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"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1" name="Google Shape;1521;p93"/>
          <p:cNvSpPr txBox="1"/>
          <p:nvPr/>
        </p:nvSpPr>
        <p:spPr>
          <a:xfrm>
            <a:off x="2185447" y="6992189"/>
            <a:ext cx="7149900" cy="1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0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latin typeface="Proxima Nova"/>
                <a:ea typeface="Proxima Nova"/>
                <a:cs typeface="Proxima Nova"/>
                <a:sym typeface="Proxima Nova"/>
              </a:rPr>
              <a:t>Из датасета для обучения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2" name="Google Shape;1522;p93"/>
          <p:cNvSpPr txBox="1"/>
          <p:nvPr/>
        </p:nvSpPr>
        <p:spPr>
          <a:xfrm>
            <a:off x="9335347" y="6992189"/>
            <a:ext cx="7119000" cy="1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0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latin typeface="Proxima Nova"/>
                <a:ea typeface="Proxima Nova"/>
                <a:cs typeface="Proxima Nova"/>
                <a:sym typeface="Proxima Nova"/>
              </a:rPr>
              <a:t>Генерация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24" name="Google Shape;1524;p93"/>
          <p:cNvPicPr preferRelativeResize="0"/>
          <p:nvPr/>
        </p:nvPicPr>
        <p:blipFill>
          <a:blip r:embed="rId4"/>
          <a:srcRect t="17526" b="17526"/>
          <a:stretch/>
        </p:blipFill>
        <p:spPr>
          <a:xfrm rot="148">
            <a:off x="7479420" y="3476806"/>
            <a:ext cx="5008353" cy="3333389"/>
          </a:xfrm>
          <a:prstGeom prst="roundRect">
            <a:avLst>
              <a:gd name="adj" fmla="val 8562"/>
            </a:avLst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520;p93">
            <a:extLst>
              <a:ext uri="{FF2B5EF4-FFF2-40B4-BE49-F238E27FC236}">
                <a16:creationId xmlns:a16="http://schemas.microsoft.com/office/drawing/2014/main" id="{E207AFF8-90E1-E8C9-5437-AC9F5B1BC9AC}"/>
              </a:ext>
            </a:extLst>
          </p:cNvPr>
          <p:cNvSpPr txBox="1"/>
          <p:nvPr/>
        </p:nvSpPr>
        <p:spPr>
          <a:xfrm>
            <a:off x="1222750" y="1717044"/>
            <a:ext cx="15231597" cy="136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dirty="0">
                <a:latin typeface="Proxima Nova"/>
                <a:ea typeface="Proxima Nova"/>
                <a:cs typeface="Proxima Nova"/>
                <a:sym typeface="Proxima Nova"/>
              </a:rPr>
              <a:t>И почему </a:t>
            </a:r>
            <a:r>
              <a:rPr lang="sv-SE" sz="3200" dirty="0">
                <a:latin typeface="Proxima Nova"/>
                <a:ea typeface="Proxima Nova"/>
                <a:cs typeface="Proxima Nova"/>
                <a:sym typeface="Proxima Nova"/>
              </a:rPr>
              <a:t>Train Acc: 98.33%</a:t>
            </a:r>
            <a:r>
              <a:rPr lang="ru-RU" sz="3200" dirty="0"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sv-SE" sz="3200" dirty="0">
                <a:latin typeface="Proxima Nova"/>
                <a:ea typeface="Proxima Nova"/>
                <a:cs typeface="Proxima Nova"/>
                <a:sym typeface="Proxima Nova"/>
              </a:rPr>
              <a:t>Val Acc: 98.26%</a:t>
            </a:r>
            <a:r>
              <a:rPr lang="ru-RU" sz="3200" dirty="0">
                <a:latin typeface="Proxima Nova"/>
                <a:ea typeface="Proxima Nova"/>
                <a:cs typeface="Proxima Nova"/>
                <a:sym typeface="Proxima Nova"/>
              </a:rPr>
              <a:t> все равно дали: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Proxima Nova"/>
                <a:ea typeface="Proxima Nova"/>
                <a:cs typeface="Proxima Nova"/>
                <a:sym typeface="Proxima Nova"/>
              </a:rPr>
              <a:t>- Test Acc (generated): 53.78%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93"/>
          <p:cNvSpPr txBox="1"/>
          <p:nvPr/>
        </p:nvSpPr>
        <p:spPr>
          <a:xfrm>
            <a:off x="1479898" y="412917"/>
            <a:ext cx="142917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>
                <a:latin typeface="Proxima Nova"/>
                <a:ea typeface="Proxima Nova"/>
                <a:cs typeface="Proxima Nova"/>
                <a:sym typeface="Proxima Nova"/>
              </a:rPr>
              <a:t>Второй эксперимент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1" name="Google Shape;1521;p93"/>
          <p:cNvSpPr txBox="1"/>
          <p:nvPr/>
        </p:nvSpPr>
        <p:spPr>
          <a:xfrm>
            <a:off x="2185447" y="6992189"/>
            <a:ext cx="7149900" cy="1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0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latin typeface="Proxima Nova"/>
                <a:ea typeface="Proxima Nova"/>
                <a:cs typeface="Proxima Nova"/>
                <a:sym typeface="Proxima Nova"/>
              </a:rPr>
              <a:t>Из датасета для обучения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2" name="Google Shape;1522;p93"/>
          <p:cNvSpPr txBox="1"/>
          <p:nvPr/>
        </p:nvSpPr>
        <p:spPr>
          <a:xfrm>
            <a:off x="9335347" y="6992189"/>
            <a:ext cx="7119000" cy="1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0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latin typeface="Proxima Nova"/>
                <a:ea typeface="Proxima Nova"/>
                <a:cs typeface="Proxima Nova"/>
                <a:sym typeface="Proxima Nova"/>
              </a:rPr>
              <a:t>Генерация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Google Shape;1520;p93">
            <a:extLst>
              <a:ext uri="{FF2B5EF4-FFF2-40B4-BE49-F238E27FC236}">
                <a16:creationId xmlns:a16="http://schemas.microsoft.com/office/drawing/2014/main" id="{E207AFF8-90E1-E8C9-5437-AC9F5B1BC9AC}"/>
              </a:ext>
            </a:extLst>
          </p:cNvPr>
          <p:cNvSpPr txBox="1"/>
          <p:nvPr/>
        </p:nvSpPr>
        <p:spPr>
          <a:xfrm>
            <a:off x="1345580" y="1302089"/>
            <a:ext cx="15231597" cy="136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Proxima Nova"/>
                <a:ea typeface="Proxima Nova"/>
                <a:cs typeface="Proxima Nova"/>
                <a:sym typeface="Proxima Nova"/>
              </a:rPr>
              <a:t>- Test Acc (generated): </a:t>
            </a:r>
            <a:r>
              <a:rPr lang="ru-RU" sz="3200" b="1" dirty="0">
                <a:latin typeface="Proxima Nova"/>
                <a:ea typeface="Proxima Nova"/>
                <a:cs typeface="Proxima Nova"/>
                <a:sym typeface="Proxima Nova"/>
              </a:rPr>
              <a:t>81</a:t>
            </a:r>
            <a:r>
              <a:rPr lang="en-US" sz="3200" b="1" dirty="0">
                <a:latin typeface="Proxima Nova"/>
                <a:ea typeface="Proxima Nova"/>
                <a:cs typeface="Proxima Nova"/>
                <a:sym typeface="Proxima Nova"/>
              </a:rPr>
              <a:t>%</a:t>
            </a:r>
          </a:p>
        </p:txBody>
      </p:sp>
      <p:pic>
        <p:nvPicPr>
          <p:cNvPr id="8" name="Рисунок 7" descr="Изображение выглядит как млекопитающее, собака, Порода собаки, мопс">
            <a:extLst>
              <a:ext uri="{FF2B5EF4-FFF2-40B4-BE49-F238E27FC236}">
                <a16:creationId xmlns:a16="http://schemas.microsoft.com/office/drawing/2014/main" id="{9E27494F-1FE4-4769-664E-EA6D3890D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722" y="2784089"/>
            <a:ext cx="4278112" cy="4278112"/>
          </a:xfrm>
          <a:prstGeom prst="rect">
            <a:avLst/>
          </a:prstGeom>
        </p:spPr>
      </p:pic>
      <p:pic>
        <p:nvPicPr>
          <p:cNvPr id="10" name="Рисунок 9" descr="Изображение выглядит как млекопитающее, собака, Порода собаки, домашнее животно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A88EE49-5CF5-B0F1-A544-C799FB3C4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122" y="2784089"/>
            <a:ext cx="44862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2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7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0" name="Google Shape;1080;p67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1" name="Google Shape;1081;p67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2" name="Google Shape;1082;p67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3" name="Google Shape;1083;p67"/>
          <p:cNvSpPr txBox="1"/>
          <p:nvPr/>
        </p:nvSpPr>
        <p:spPr>
          <a:xfrm>
            <a:off x="551850" y="489600"/>
            <a:ext cx="14292000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Регенерация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"/>
          <p:cNvSpPr txBox="1"/>
          <p:nvPr/>
        </p:nvSpPr>
        <p:spPr>
          <a:xfrm>
            <a:off x="6803164" y="780938"/>
            <a:ext cx="5213444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600" dirty="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Было/стало</a:t>
            </a:r>
            <a:endParaRPr lang="en-US" sz="56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6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" name="Google Shape;2402;p122">
            <a:extLst>
              <a:ext uri="{FF2B5EF4-FFF2-40B4-BE49-F238E27FC236}">
                <a16:creationId xmlns:a16="http://schemas.microsoft.com/office/drawing/2014/main" id="{C7E884BC-79C0-659B-F763-10DCD462197C}"/>
              </a:ext>
            </a:extLst>
          </p:cNvPr>
          <p:cNvSpPr/>
          <p:nvPr/>
        </p:nvSpPr>
        <p:spPr>
          <a:xfrm>
            <a:off x="1149110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Общая точность: 81.0%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Обработано: 100 изображений</a:t>
            </a:r>
            <a:endParaRPr lang="ru-RU" sz="2000" kern="100" dirty="0">
              <a:effectLst/>
              <a:latin typeface="Proxima Nova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2402;p122">
            <a:extLst>
              <a:ext uri="{FF2B5EF4-FFF2-40B4-BE49-F238E27FC236}">
                <a16:creationId xmlns:a16="http://schemas.microsoft.com/office/drawing/2014/main" id="{9EA53160-70F0-A6DC-ADDE-8508744587FD}"/>
              </a:ext>
            </a:extLst>
          </p:cNvPr>
          <p:cNvSpPr/>
          <p:nvPr/>
        </p:nvSpPr>
        <p:spPr>
          <a:xfrm>
            <a:off x="9421927" y="3320053"/>
            <a:ext cx="6658534" cy="3271557"/>
          </a:xfrm>
          <a:prstGeom prst="roundRect">
            <a:avLst>
              <a:gd name="adj" fmla="val 18568"/>
            </a:avLst>
          </a:prstGeom>
          <a:solidFill>
            <a:srgbClr val="FFFFFF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b="1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Общая точность: 88.8%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📈 Обработано: 80 изображений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🔄 Регенерация потребовалась для 19 запросов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000" kern="0" dirty="0"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🔄 Всего регенераций: 32</a:t>
            </a:r>
            <a:endParaRPr lang="ru-RU" sz="2000" kern="100" dirty="0">
              <a:effectLst/>
              <a:latin typeface="Proxima Nova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993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7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0" name="Google Shape;1080;p67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1" name="Google Shape;1081;p67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96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2" name="Google Shape;1082;p67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3" name="Google Shape;1083;p67"/>
          <p:cNvSpPr txBox="1"/>
          <p:nvPr/>
        </p:nvSpPr>
        <p:spPr>
          <a:xfrm>
            <a:off x="551850" y="489600"/>
            <a:ext cx="14292000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Итоговая система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747486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77"/>
          <p:cNvGrpSpPr/>
          <p:nvPr/>
        </p:nvGrpSpPr>
        <p:grpSpPr>
          <a:xfrm>
            <a:off x="350192" y="3605556"/>
            <a:ext cx="7139850" cy="1000800"/>
            <a:chOff x="558000" y="2952000"/>
            <a:chExt cx="7139850" cy="1000800"/>
          </a:xfrm>
        </p:grpSpPr>
        <p:sp>
          <p:nvSpPr>
            <p:cNvPr id="1191" name="Google Shape;1191;p77"/>
            <p:cNvSpPr txBox="1"/>
            <p:nvPr/>
          </p:nvSpPr>
          <p:spPr>
            <a:xfrm>
              <a:off x="1981050" y="2952000"/>
              <a:ext cx="5716800" cy="10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Поле для ввода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2000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Можно ввести запрос на русском языке</a:t>
              </a:r>
              <a:endParaRPr sz="1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92" name="Google Shape;1192;p77"/>
            <p:cNvSpPr/>
            <p:nvPr/>
          </p:nvSpPr>
          <p:spPr>
            <a:xfrm>
              <a:off x="558000" y="2952000"/>
              <a:ext cx="1000800" cy="10008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2400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dirty="0"/>
            </a:p>
          </p:txBody>
        </p:sp>
      </p:grpSp>
      <p:grpSp>
        <p:nvGrpSpPr>
          <p:cNvPr id="1193" name="Google Shape;1193;p77"/>
          <p:cNvGrpSpPr/>
          <p:nvPr/>
        </p:nvGrpSpPr>
        <p:grpSpPr>
          <a:xfrm>
            <a:off x="354842" y="6886772"/>
            <a:ext cx="7146000" cy="998100"/>
            <a:chOff x="551850" y="6417900"/>
            <a:chExt cx="7146000" cy="998100"/>
          </a:xfrm>
        </p:grpSpPr>
        <p:sp>
          <p:nvSpPr>
            <p:cNvPr id="1194" name="Google Shape;1194;p77"/>
            <p:cNvSpPr txBox="1"/>
            <p:nvPr/>
          </p:nvSpPr>
          <p:spPr>
            <a:xfrm>
              <a:off x="1981050" y="6674742"/>
              <a:ext cx="5716800" cy="59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Генерация по промту</a:t>
              </a: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95" name="Google Shape;1195;p77"/>
            <p:cNvSpPr/>
            <p:nvPr/>
          </p:nvSpPr>
          <p:spPr>
            <a:xfrm>
              <a:off x="551850" y="6417900"/>
              <a:ext cx="998100" cy="9981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2400" b="1"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dirty="0"/>
            </a:p>
          </p:txBody>
        </p:sp>
      </p:grpSp>
      <p:grpSp>
        <p:nvGrpSpPr>
          <p:cNvPr id="1196" name="Google Shape;1196;p77"/>
          <p:cNvGrpSpPr/>
          <p:nvPr/>
        </p:nvGrpSpPr>
        <p:grpSpPr>
          <a:xfrm>
            <a:off x="354842" y="8520350"/>
            <a:ext cx="7135200" cy="993600"/>
            <a:chOff x="9144000" y="6422400"/>
            <a:chExt cx="7135200" cy="993600"/>
          </a:xfrm>
        </p:grpSpPr>
        <p:sp>
          <p:nvSpPr>
            <p:cNvPr id="1197" name="Google Shape;1197;p77"/>
            <p:cNvSpPr txBox="1"/>
            <p:nvPr/>
          </p:nvSpPr>
          <p:spPr>
            <a:xfrm>
              <a:off x="10562400" y="6749745"/>
              <a:ext cx="5716800" cy="464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Модель </a:t>
              </a:r>
              <a:r>
                <a:rPr lang="en-US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CV</a:t>
              </a: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определяет класс</a:t>
              </a: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98" name="Google Shape;1198;p77"/>
            <p:cNvSpPr/>
            <p:nvPr/>
          </p:nvSpPr>
          <p:spPr>
            <a:xfrm>
              <a:off x="9144000" y="6422400"/>
              <a:ext cx="993600" cy="9936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2400" b="1" dirty="0">
                  <a:latin typeface="Proxima Nova"/>
                  <a:ea typeface="Proxima Nova"/>
                  <a:cs typeface="Proxima Nova"/>
                  <a:sym typeface="Proxima Nova"/>
                </a:rPr>
                <a:t>4</a:t>
              </a:r>
              <a:endParaRPr b="1" dirty="0"/>
            </a:p>
          </p:txBody>
        </p:sp>
      </p:grpSp>
      <p:grpSp>
        <p:nvGrpSpPr>
          <p:cNvPr id="1199" name="Google Shape;1199;p77"/>
          <p:cNvGrpSpPr/>
          <p:nvPr/>
        </p:nvGrpSpPr>
        <p:grpSpPr>
          <a:xfrm>
            <a:off x="354842" y="5241834"/>
            <a:ext cx="7135200" cy="1649339"/>
            <a:chOff x="9144000" y="2952000"/>
            <a:chExt cx="7135200" cy="1756928"/>
          </a:xfrm>
        </p:grpSpPr>
        <p:sp>
          <p:nvSpPr>
            <p:cNvPr id="1200" name="Google Shape;1200;p77"/>
            <p:cNvSpPr txBox="1"/>
            <p:nvPr/>
          </p:nvSpPr>
          <p:spPr>
            <a:xfrm>
              <a:off x="10562400" y="2952000"/>
              <a:ext cx="5716800" cy="175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Дообученная </a:t>
              </a:r>
              <a:r>
                <a:rPr lang="en-US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LLM</a:t>
              </a:r>
              <a:r>
                <a:rPr lang="ru-RU" sz="2400" b="1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переводит запрос в промт для генератора картинок</a:t>
              </a: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1800" dirty="0">
                  <a:latin typeface="Proxima Nova"/>
                  <a:ea typeface="Proxima Nova"/>
                  <a:cs typeface="Proxima Nova"/>
                  <a:sym typeface="Proxima Nova"/>
                </a:rPr>
                <a:t>Сохраняется формат 1600 примеров, на которых она была обучена (включая </a:t>
              </a:r>
              <a:r>
                <a:rPr lang="ru-RU" sz="1800" dirty="0" err="1">
                  <a:latin typeface="Proxima Nova"/>
                  <a:ea typeface="Proxima Nova"/>
                  <a:cs typeface="Proxima Nova"/>
                  <a:sym typeface="Proxima Nova"/>
                </a:rPr>
                <a:t>мультикласс</a:t>
              </a:r>
              <a:r>
                <a:rPr lang="ru-RU" sz="1800" dirty="0">
                  <a:latin typeface="Proxima Nova"/>
                  <a:ea typeface="Proxima Nova"/>
                  <a:cs typeface="Proxima Nova"/>
                  <a:sym typeface="Proxima Nova"/>
                </a:rPr>
                <a:t> и </a:t>
              </a:r>
              <a:r>
                <a:rPr lang="en-US" sz="1800" dirty="0">
                  <a:latin typeface="Proxima Nova"/>
                  <a:ea typeface="Proxima Nova"/>
                  <a:cs typeface="Proxima Nova"/>
                  <a:sym typeface="Proxima Nova"/>
                </a:rPr>
                <a:t>unknown </a:t>
              </a:r>
              <a:r>
                <a:rPr lang="ru-RU" sz="1800" dirty="0">
                  <a:latin typeface="Proxima Nova"/>
                  <a:ea typeface="Proxima Nova"/>
                  <a:cs typeface="Proxima Nova"/>
                  <a:sym typeface="Proxima Nova"/>
                </a:rPr>
                <a:t>примеры)</a:t>
              </a: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01" name="Google Shape;1201;p77"/>
            <p:cNvSpPr/>
            <p:nvPr/>
          </p:nvSpPr>
          <p:spPr>
            <a:xfrm>
              <a:off x="9144000" y="2952000"/>
              <a:ext cx="1000800" cy="10008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2400" b="1"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dirty="0"/>
            </a:p>
          </p:txBody>
        </p:sp>
      </p:grpSp>
      <p:sp>
        <p:nvSpPr>
          <p:cNvPr id="1202" name="Google Shape;1202;p77"/>
          <p:cNvSpPr txBox="1"/>
          <p:nvPr/>
        </p:nvSpPr>
        <p:spPr>
          <a:xfrm>
            <a:off x="350192" y="1325140"/>
            <a:ext cx="72875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>
                <a:latin typeface="Proxima Nova"/>
                <a:ea typeface="Proxima Nova"/>
                <a:cs typeface="Proxima Nova"/>
                <a:sym typeface="Proxima Nova"/>
              </a:rPr>
              <a:t>Живой сервис: как это работает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9047CE-A1DA-8C09-7A78-EFADDC67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99"/>
          <a:stretch/>
        </p:blipFill>
        <p:spPr>
          <a:xfrm>
            <a:off x="7907642" y="226217"/>
            <a:ext cx="10140287" cy="98345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9" name="Google Shape;1609;p102"/>
          <p:cNvGrpSpPr/>
          <p:nvPr/>
        </p:nvGrpSpPr>
        <p:grpSpPr>
          <a:xfrm>
            <a:off x="3949200" y="723900"/>
            <a:ext cx="19133275" cy="9563100"/>
            <a:chOff x="3949200" y="723900"/>
            <a:chExt cx="19133275" cy="9563100"/>
          </a:xfrm>
        </p:grpSpPr>
        <p:sp>
          <p:nvSpPr>
            <p:cNvPr id="1610" name="Google Shape;1610;p102"/>
            <p:cNvSpPr/>
            <p:nvPr/>
          </p:nvSpPr>
          <p:spPr>
            <a:xfrm>
              <a:off x="13519375" y="723900"/>
              <a:ext cx="9563100" cy="956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1" name="Google Shape;1611;p102"/>
            <p:cNvSpPr/>
            <p:nvPr/>
          </p:nvSpPr>
          <p:spPr>
            <a:xfrm>
              <a:off x="3949200" y="723900"/>
              <a:ext cx="9563100" cy="9563100"/>
            </a:xfrm>
            <a:prstGeom prst="ellipse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12" name="Google Shape;1612;p102"/>
          <p:cNvSpPr txBox="1"/>
          <p:nvPr/>
        </p:nvSpPr>
        <p:spPr>
          <a:xfrm>
            <a:off x="5400940" y="4493565"/>
            <a:ext cx="10296260" cy="27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Спасибо за внимание!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3" name="Google Shape;1623;p102"/>
          <p:cNvSpPr txBox="1"/>
          <p:nvPr/>
        </p:nvSpPr>
        <p:spPr>
          <a:xfrm>
            <a:off x="551850" y="8422930"/>
            <a:ext cx="57168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Соловьева Е.В.</a:t>
            </a:r>
            <a:endParaRPr sz="24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DSU-77</a:t>
            </a:r>
            <a:endParaRPr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624" name="Google Shape;1624;p102"/>
          <p:cNvGrpSpPr/>
          <p:nvPr/>
        </p:nvGrpSpPr>
        <p:grpSpPr>
          <a:xfrm>
            <a:off x="17477600" y="9375471"/>
            <a:ext cx="517076" cy="530659"/>
            <a:chOff x="238125" y="2432825"/>
            <a:chExt cx="779550" cy="781875"/>
          </a:xfrm>
        </p:grpSpPr>
        <p:sp>
          <p:nvSpPr>
            <p:cNvPr id="1625" name="Google Shape;1625;p10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" name="Google Shape;1626;p10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" name="Google Shape;1627;p10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" name="Google Shape;1628;p10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473</Words>
  <Application>Microsoft Office PowerPoint</Application>
  <PresentationFormat>Произвольный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Proxima Nova</vt:lpstr>
      <vt:lpstr>Proxima Nova Semibold</vt:lpstr>
      <vt:lpstr>Arial</vt:lpstr>
      <vt:lpstr>White Green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ekaterina.solovieva@xpress.com.ph</cp:lastModifiedBy>
  <cp:revision>17</cp:revision>
  <dcterms:modified xsi:type="dcterms:W3CDTF">2026-04-17T02:00:07Z</dcterms:modified>
</cp:coreProperties>
</file>